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04" r:id="rId4"/>
    <p:sldMasterId id="2147483851" r:id="rId5"/>
    <p:sldMasterId id="2147483832" r:id="rId6"/>
  </p:sldMasterIdLst>
  <p:notesMasterIdLst>
    <p:notesMasterId r:id="rId26"/>
  </p:notesMasterIdLst>
  <p:handoutMasterIdLst>
    <p:handoutMasterId r:id="rId27"/>
  </p:handoutMasterIdLst>
  <p:sldIdLst>
    <p:sldId id="261" r:id="rId7"/>
    <p:sldId id="263" r:id="rId8"/>
    <p:sldId id="276" r:id="rId9"/>
    <p:sldId id="264" r:id="rId10"/>
    <p:sldId id="269" r:id="rId11"/>
    <p:sldId id="270" r:id="rId12"/>
    <p:sldId id="268" r:id="rId13"/>
    <p:sldId id="271" r:id="rId14"/>
    <p:sldId id="272" r:id="rId15"/>
    <p:sldId id="265" r:id="rId16"/>
    <p:sldId id="274" r:id="rId17"/>
    <p:sldId id="273" r:id="rId18"/>
    <p:sldId id="275" r:id="rId19"/>
    <p:sldId id="277" r:id="rId20"/>
    <p:sldId id="278" r:id="rId21"/>
    <p:sldId id="279" r:id="rId22"/>
    <p:sldId id="280" r:id="rId23"/>
    <p:sldId id="281" r:id="rId24"/>
    <p:sldId id="4274" r:id="rId25"/>
  </p:sldIdLst>
  <p:sldSz cx="12192000" cy="6858000"/>
  <p:notesSz cx="6858000" cy="9144000"/>
  <p:embeddedFontLst>
    <p:embeddedFont>
      <p:font typeface="Avenir Next LT Pro" panose="020B0504020202020204" pitchFamily="34" charset="77"/>
      <p:regular r:id="rId28"/>
      <p:bold r:id="rId29"/>
      <p:italic r:id="rId30"/>
      <p:boldItalic r:id="rId31"/>
    </p:embeddedFont>
    <p:embeddedFont>
      <p:font typeface="Glacial Indifference" pitchFamily="2" charset="0"/>
      <p:regular r:id="rId32"/>
      <p:bold r:id="rId33"/>
      <p:italic r:id="rId34"/>
    </p:embeddedFont>
    <p:embeddedFont>
      <p:font typeface="Inter" panose="02000503000000020004" pitchFamily="2" charset="0"/>
      <p:regular r:id="rId35"/>
      <p:bold r:id="rId36"/>
    </p:embeddedFont>
    <p:embeddedFont>
      <p:font typeface="Inter Italic" panose="02000503000000020004" pitchFamily="2" charset="0"/>
      <p:regular r:id="rId37"/>
      <p:bold r:id="rId38"/>
    </p:embeddedFont>
    <p:embeddedFont>
      <p:font typeface="Inter SemiBold" panose="02000503000000020004" pitchFamily="2" charset="0"/>
      <p:regular r:id="rId39"/>
      <p:bold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BA30CF-3D33-4642-B48F-22F99832BFDB}">
          <p14:sldIdLst>
            <p14:sldId id="261"/>
            <p14:sldId id="263"/>
            <p14:sldId id="276"/>
            <p14:sldId id="264"/>
            <p14:sldId id="269"/>
            <p14:sldId id="270"/>
            <p14:sldId id="268"/>
            <p14:sldId id="271"/>
            <p14:sldId id="272"/>
            <p14:sldId id="265"/>
            <p14:sldId id="274"/>
            <p14:sldId id="273"/>
            <p14:sldId id="275"/>
            <p14:sldId id="277"/>
            <p14:sldId id="278"/>
            <p14:sldId id="279"/>
            <p14:sldId id="280"/>
            <p14:sldId id="281"/>
            <p14:sldId id="4274"/>
          </p14:sldIdLst>
        </p14:section>
        <p14:section name="SECOND PART" id="{1B9D76FA-43C3-7146-84E5-E3D78777DBD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071912-50E5-1EC3-3DB9-EF9B5432EEF8}" name="Andrei Moldovan" initials="AM" userId="S::andrei.moldovan@quointelligence.eu::935de7f3-3f58-4db7-9850-c96ff182b514" providerId="AD"/>
  <p188:author id="{498DE920-1E9B-7681-B036-CC0454748453}" name="Alixia Clarisse Rutayisire" initials="" userId="S::alixia.rutayisire@quointelligence.eu::d570bc06-3872-421f-96a1-a6f7ccb2ae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512B"/>
    <a:srgbClr val="2C3085"/>
    <a:srgbClr val="F7FDFE"/>
    <a:srgbClr val="F7FEFE"/>
    <a:srgbClr val="0D090F"/>
    <a:srgbClr val="DFE3E7"/>
    <a:srgbClr val="333333"/>
    <a:srgbClr val="E23085"/>
    <a:srgbClr val="F0F2F2"/>
    <a:srgbClr val="04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9C945-BA71-634D-9F3B-AA8A37E8B864}" v="69" dt="2025-08-21T13:17:25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79"/>
    <p:restoredTop sz="68000"/>
  </p:normalViewPr>
  <p:slideViewPr>
    <p:cSldViewPr snapToGrid="0">
      <p:cViewPr varScale="1">
        <p:scale>
          <a:sx n="74" d="100"/>
          <a:sy n="74" d="100"/>
        </p:scale>
        <p:origin x="218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5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8/10/relationships/authors" Target="authors.xml"/><Relationship Id="rId20" Type="http://schemas.openxmlformats.org/officeDocument/2006/relationships/slide" Target="slides/slide14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C6C8D8-354B-4F1B-9C7A-BE091C9117E7}" type="datetimeFigureOut">
              <a:rPr lang="en-US" smtClean="0">
                <a:latin typeface="Avenir Next LT Pro" panose="020B0504020202020204" pitchFamily="34" charset="77"/>
              </a:rPr>
              <a:t>9/3/25</a:t>
            </a:fld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venir Next LT Pro" panose="020B0504020202020204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76DB3-C61D-49B3-B591-A0DDB9642CEB}" type="slidenum">
              <a:rPr lang="en-US" smtClean="0">
                <a:latin typeface="Avenir Next LT Pro" panose="020B0504020202020204" pitchFamily="34" charset="77"/>
              </a:rPr>
              <a:t>‹Nº›</a:t>
            </a:fld>
            <a:endParaRPr lang="en-US">
              <a:latin typeface="Avenir Next L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8269763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8D81A842-261D-4F6B-8744-48C08B85FE1C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venir Next LT Pro" panose="020B05040202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venir Next LT Pro" panose="020B0504020202020204" pitchFamily="34" charset="77"/>
              </a:defRPr>
            </a:lvl1pPr>
          </a:lstStyle>
          <a:p>
            <a:fld id="{9EA3FC3B-BE2B-4D33-AC5B-BF6FD7BEFCE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3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1pPr>
    <a:lvl2pPr marL="457189" algn="l" defTabSz="914377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2pPr>
    <a:lvl3pPr marL="914377" algn="l" defTabSz="914377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3pPr>
    <a:lvl4pPr marL="1371566" algn="l" defTabSz="914377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4pPr>
    <a:lvl5pPr marL="1828754" algn="l" defTabSz="914377" rtl="0" eaLnBrk="1" latinLnBrk="0" hangingPunct="1"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1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venir Next LT Pro" panose="020B0504020202020204" pitchFamily="34" charset="77"/>
                <a:ea typeface="+mn-ea"/>
                <a:cs typeface="+mn-cs"/>
              </a:rPr>
              <a:t> </a:t>
            </a:r>
            <a:endParaRPr lang="es-ES" sz="1200" b="0" i="0" kern="1200" dirty="0">
              <a:solidFill>
                <a:schemeClr val="tx1"/>
              </a:solidFill>
              <a:effectLst/>
              <a:latin typeface="Avenir Next LT Pro" panose="020B0504020202020204" pitchFamily="34" charset="77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9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87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86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7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61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34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82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89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46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90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07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77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46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1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FC3B-BE2B-4D33-AC5B-BF6FD7BEFC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6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AC42FCC-B8ED-F964-3542-79635ECF4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4200" y="4876800"/>
            <a:ext cx="6248400" cy="602568"/>
          </a:xfrm>
          <a:noFill/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2000" b="1" i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4E54C-5683-6C98-D90A-014122D6EA21}"/>
              </a:ext>
            </a:extLst>
          </p:cNvPr>
          <p:cNvSpPr txBox="1"/>
          <p:nvPr userDrawn="1"/>
        </p:nvSpPr>
        <p:spPr>
          <a:xfrm>
            <a:off x="5521036" y="65462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ED98A84-22E8-F806-EA5E-3C463B29DF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80034" y="6356350"/>
            <a:ext cx="447261" cy="365125"/>
          </a:xfrm>
        </p:spPr>
        <p:txBody>
          <a:bodyPr/>
          <a:lstStyle/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E12AF9BE-91B7-6E14-22C0-1AA0BA324BC7}"/>
              </a:ext>
            </a:extLst>
          </p:cNvPr>
          <p:cNvSpPr txBox="1">
            <a:spLocks/>
          </p:cNvSpPr>
          <p:nvPr userDrawn="1"/>
        </p:nvSpPr>
        <p:spPr>
          <a:xfrm>
            <a:off x="8484705" y="6358973"/>
            <a:ext cx="887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A4A2-363D-9B02-03E1-B524A200B8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2CE426-6C4A-984D-9A24-92A18BE04142}" type="datetime1">
              <a:rPr lang="de-DE" smtClean="0"/>
              <a:t>03.09.25</a:t>
            </a:fld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64028DD-0EFE-EA63-B246-64CD1FBFC433}"/>
              </a:ext>
            </a:extLst>
          </p:cNvPr>
          <p:cNvSpPr txBox="1"/>
          <p:nvPr userDrawn="1"/>
        </p:nvSpPr>
        <p:spPr>
          <a:xfrm>
            <a:off x="6281530" y="62417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7" name="Imagen 6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6FCAFA36-D1C6-4AB6-2FB6-B49C19F67F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600" y="506954"/>
            <a:ext cx="5643860" cy="398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4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+Paragraph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3D177B-DB0A-D16A-2671-4ADB0E255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Placeholder 11">
            <a:extLst>
              <a:ext uri="{FF2B5EF4-FFF2-40B4-BE49-F238E27FC236}">
                <a16:creationId xmlns:a16="http://schemas.microsoft.com/office/drawing/2014/main" id="{95DBAF4D-D5A6-E1EE-7A88-A35FD678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788" y="744538"/>
            <a:ext cx="692785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IT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41D7BFF-699F-E371-BE3B-09855533A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788" y="1828800"/>
            <a:ext cx="6927850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74AD5-1E91-4B61-66DE-E5588074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3" name="Imagen 2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3339373C-67E1-C37A-0499-E08BD63BB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710" y="196710"/>
            <a:ext cx="1555313" cy="109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50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+Paragraph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77756A-9FE6-5DF4-523E-C03E1DD7B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Placeholder 11">
            <a:extLst>
              <a:ext uri="{FF2B5EF4-FFF2-40B4-BE49-F238E27FC236}">
                <a16:creationId xmlns:a16="http://schemas.microsoft.com/office/drawing/2014/main" id="{BE4450AF-82E2-D79F-8840-BA92630D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485438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IT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D53EC0D-04DF-6D23-703E-E5075D267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485438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D7845-9BA5-8EA7-F31F-D34030A7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E432-C64A-4C46-8137-C18B61AF550B}" type="datetime1">
              <a:rPr lang="de-DE" smtClean="0"/>
              <a:t>03.09.25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hrase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559C949-C91D-BFA7-B745-EC99E689D0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21125" y="2634761"/>
            <a:ext cx="6549747" cy="1588478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2400" b="1" i="0">
                <a:solidFill>
                  <a:schemeClr val="bg1"/>
                </a:solidFill>
                <a:latin typeface="Inter Italic" panose="02000503000000020004" pitchFamily="2" charset="0"/>
                <a:ea typeface="Inter Italic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“Click To Edit Master Text Style”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A983F-D924-0A56-B59C-46D1A1A12A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64E5FB-B6C6-7747-9616-0153D856CC19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39006-276B-B092-254E-CB14432948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9728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ark. Title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A02D199-85D1-3358-D4AD-DC9C49C86B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28650" y="3501008"/>
            <a:ext cx="6934699" cy="602568"/>
          </a:xfrm>
        </p:spPr>
        <p:txBody>
          <a:bodyPr anchor="ctr" anchorCtr="0">
            <a:normAutofit/>
          </a:bodyPr>
          <a:lstStyle>
            <a:lvl1pPr marL="0" indent="0" algn="ctr">
              <a:buFont typeface="+mj-lt"/>
              <a:buNone/>
              <a:defRPr sz="2400" b="1" i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8" name="Title Placeholder 11">
            <a:extLst>
              <a:ext uri="{FF2B5EF4-FFF2-40B4-BE49-F238E27FC236}">
                <a16:creationId xmlns:a16="http://schemas.microsoft.com/office/drawing/2014/main" id="{5E34A111-245E-019E-CFD3-31CAEE95B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650" y="2708918"/>
            <a:ext cx="6934699" cy="602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5F26F-8588-CA6C-69B0-807AAB394C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4F120A-48C8-0540-8E09-A3A0686F7D82}" type="datetime1">
              <a:rPr lang="de-DE" smtClean="0"/>
              <a:t>03.09.25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79311-BF23-4596-122D-45D4ED85B9D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56406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Phrase"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A983F-D924-0A56-B59C-46D1A1A12A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64E5FB-B6C6-7747-9616-0153D856CC19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39006-276B-B092-254E-CB14432948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45827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50C3E01-6373-67CE-5E9F-F0D0809B8E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5787" y="2582181"/>
            <a:ext cx="6934699" cy="60256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Font typeface="+mj-lt"/>
              <a:buNone/>
              <a:defRPr sz="2400" b="1" i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7" name="Title Placeholder 11">
            <a:extLst>
              <a:ext uri="{FF2B5EF4-FFF2-40B4-BE49-F238E27FC236}">
                <a16:creationId xmlns:a16="http://schemas.microsoft.com/office/drawing/2014/main" id="{9BE7B822-BD67-59C8-3C26-2B57B60237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5788" y="1828800"/>
            <a:ext cx="6927849" cy="597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Title</a:t>
            </a:r>
            <a:endParaRPr lang="en-IT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A3999-4FD3-BEB4-020F-AD8CDBEC183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C79D936-1C87-394E-9D2E-8BD2E4448C9D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946A-2C34-A2BD-7CCA-D780CD02B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EAF67-5720-B6A0-65C5-B4AB15AF00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2452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4E5A2512-DCDD-980F-0F15-CEAF3AB6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AF0A8A-C4A9-2F1A-7D48-D1F88A991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CBA4273-3CA4-0A28-69DE-DAF2ABA02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485438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6E97D-4BC4-659E-5A6E-48F97435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ED573-AC92-C74C-AD3D-6209BE32EC32}" type="datetime1">
              <a:rPr lang="de-DE" smtClean="0"/>
              <a:t>03.09.25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EAF4-961D-4DB3-3751-72097B16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450103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efault+Sace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1">
            <a:extLst>
              <a:ext uri="{FF2B5EF4-FFF2-40B4-BE49-F238E27FC236}">
                <a16:creationId xmlns:a16="http://schemas.microsoft.com/office/drawing/2014/main" id="{1774CE70-19F6-6195-F886-88BFECA2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788" y="744538"/>
            <a:ext cx="6958012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BB3BF00-E311-BFE2-1E93-CF3AC8DA8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2483D42-D38C-3B2C-4AA0-5EFE819B8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788" y="1828800"/>
            <a:ext cx="6927850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70636-715D-2FAB-815D-3F0497DB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D2787-00CE-5341-9618-5B93498F0D1D}" type="datetime1">
              <a:rPr lang="de-DE" smtClean="0"/>
              <a:t>03.09.25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0569C-7A05-4DF8-B60C-F6E85AB41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50403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efault+Media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4BE1BD24-95D5-40BA-F329-B1641B1D9A06}"/>
              </a:ext>
            </a:extLst>
          </p:cNvPr>
          <p:cNvSpPr>
            <a:spLocks noGrp="1"/>
          </p:cNvSpPr>
          <p:nvPr>
            <p:ph type="media" sz="quarter" idx="15"/>
          </p:nvPr>
        </p:nvSpPr>
        <p:spPr>
          <a:xfrm>
            <a:off x="4395788" y="1828800"/>
            <a:ext cx="6927850" cy="4121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IT"/>
          </a:p>
        </p:txBody>
      </p:sp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1A4B3AE1-CCD5-93B8-C7B5-F3551E01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17B806-9F49-382B-DA3F-C9778526F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7DF390-E5B7-BA49-41D0-191AE763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3400425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7D97E-5D30-D148-1FAA-F71D36B68DD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4A355EF-E22A-8A4B-AF6C-373FFB94CDFA}" type="datetime1">
              <a:rPr lang="de-DE" smtClean="0"/>
              <a:t>03.09.25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47B0-1F62-A154-EE8E-CE6C101BBB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2938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efault+Table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B7C06355-45E1-9AB5-5F0E-83DA245FDB1D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839788" y="1828800"/>
            <a:ext cx="6942137" cy="4121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IT"/>
          </a:p>
        </p:txBody>
      </p:sp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44B3F5C4-2CE5-3427-657E-14A8AA6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72E976A-FBF6-D1A7-3F54-3C5A63E9F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23224DC-CC9E-9601-B21A-C2450B56B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088" y="1828800"/>
            <a:ext cx="3384550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F7933-DFBF-DB90-F7FB-18AB26DEC7E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34F229F-0457-4C4D-A44B-5EC802A50C60}" type="datetime1">
              <a:rPr lang="de-DE" smtClean="0"/>
              <a:t>03.09.25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B3845-359E-17E5-A126-577EA5397C6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1224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efault+Image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DE4431-924C-5761-97E3-BF73883629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8" y="744538"/>
            <a:ext cx="3398837" cy="52054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IT"/>
          </a:p>
        </p:txBody>
      </p:sp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200B4055-F934-CA56-710F-A21375C3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788" y="744538"/>
            <a:ext cx="6958012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7591013-9F47-1E37-0DA8-65A58FEF2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BDFBA5-DE6E-4A4F-EACC-405ABEEE8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788" y="1828800"/>
            <a:ext cx="6927850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650F2-D445-EB9C-4CCB-03F0313ADD0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68D458-6B5B-B941-82D6-58508507FBFE}" type="datetime1">
              <a:rPr lang="de-DE" smtClean="0"/>
              <a:t>03.09.25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CAE3F-02D4-8B00-A97F-6F751DEB06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061523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efault+Chart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0C87881-73ED-1D93-3641-83D0544A967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39788" y="744538"/>
            <a:ext cx="3398837" cy="52054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IT"/>
          </a:p>
        </p:txBody>
      </p:sp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2A1F8C54-67A5-E80A-74E0-D5A6E65A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788" y="744538"/>
            <a:ext cx="6958012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A469AF-B89F-3DAF-F637-F3FF70563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81DB57B-FF50-C0C5-7877-DB8DE89B0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788" y="1828800"/>
            <a:ext cx="6927850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0EC79-52CE-BC32-124A-78AF55FC69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96A3674-61CF-F64E-974C-12A4091DF7D6}" type="datetime1">
              <a:rPr lang="de-DE" smtClean="0"/>
              <a:t>03.09.25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ECA9D-E610-1122-DC34-FF72B948E5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3632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+Image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94DB60-05C4-267E-6E40-98C2E074E5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9789" y="1828800"/>
            <a:ext cx="10483850" cy="4121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IT"/>
          </a:p>
        </p:txBody>
      </p:sp>
      <p:sp>
        <p:nvSpPr>
          <p:cNvPr id="2" name="Title Placeholder 11">
            <a:extLst>
              <a:ext uri="{FF2B5EF4-FFF2-40B4-BE49-F238E27FC236}">
                <a16:creationId xmlns:a16="http://schemas.microsoft.com/office/drawing/2014/main" id="{23FD6EC9-8F38-1843-F169-1611BF91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2489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0A05F2F-A9A9-0301-9331-B44C57230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631F0-479E-4C87-8A07-D6CC9BF3609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4CD0B9A-4E2B-B248-90CB-77A056EE31AC}" type="datetime1">
              <a:rPr lang="de-DE" smtClean="0"/>
              <a:t>03.09.25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6B480-1242-0C3F-09A1-71978904EEA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707130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+Table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9B121061-7ADE-A0CB-7B08-B15C0493A38D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839789" y="1828800"/>
            <a:ext cx="10483850" cy="4121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table</a:t>
            </a:r>
            <a:endParaRPr lang="en-IT"/>
          </a:p>
        </p:txBody>
      </p:sp>
      <p:sp>
        <p:nvSpPr>
          <p:cNvPr id="5" name="Title Placeholder 11">
            <a:extLst>
              <a:ext uri="{FF2B5EF4-FFF2-40B4-BE49-F238E27FC236}">
                <a16:creationId xmlns:a16="http://schemas.microsoft.com/office/drawing/2014/main" id="{C284C2D0-2EA8-A494-777A-43917C5FB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0241B6C-77AD-ADE3-BB35-04CFC1BE8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17108-7284-C3A6-0BD2-ED5B45FE0A1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48E4342-B4BA-3240-B9E2-DFBDA6F092CC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73865-943C-19A7-888B-2EB87A5DE72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3579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+Blank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1">
            <a:extLst>
              <a:ext uri="{FF2B5EF4-FFF2-40B4-BE49-F238E27FC236}">
                <a16:creationId xmlns:a16="http://schemas.microsoft.com/office/drawing/2014/main" id="{7B5558F3-988E-03D5-675B-0CC0A545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515600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80F920-8D4A-865A-E050-7010E0BA1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78ADF-AADD-8D5B-F551-571AF23B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F805B-A863-104A-A48B-672D65BEF868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932DA-A7FA-E091-6D78-D2E2454E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586526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ullet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6EEA8A4-C4F2-459D-4DE7-ED0F41817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7819DFF-D8A1-5487-B18A-08D2CB6A8EA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752851"/>
            <a:ext cx="10485438" cy="520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8ED77-909E-ED09-D52F-FF4EB772F7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16E4F9A-4DEC-4746-B4FA-DCF9646A6706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235D-35A3-E5CC-39B5-36B3FFEAC8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59275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71A3FEF-DB86-5CEE-B29E-EB29F250C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12896-9466-8650-3140-9C2BEC2C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0B94-5A04-BE48-B718-03CEAF3C913E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E72C51-9386-1858-A9E4-18C8AE5F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874161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+Subtitle+Text"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5E4385C-E63C-450D-8825-4BAEE5FBFC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788" y="1828800"/>
            <a:ext cx="10483850" cy="489940"/>
          </a:xfrm>
          <a:prstGeom prst="rect">
            <a:avLst/>
          </a:prstGeom>
        </p:spPr>
        <p:txBody>
          <a:bodyPr>
            <a:normAutofit/>
          </a:bodyPr>
          <a:lstStyle>
            <a:lvl1pPr marL="12595" indent="0">
              <a:spcAft>
                <a:spcPts val="600"/>
              </a:spcAft>
              <a:buFont typeface="Arial" panose="020B0604020202020204" pitchFamily="34" charset="0"/>
              <a:buNone/>
              <a:defRPr sz="2600" b="1" i="0" baseline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25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839787" y="744538"/>
            <a:ext cx="10483851" cy="9556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sz="2800" b="1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master</a:t>
            </a:r>
            <a:endParaRPr lang="de-D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2F30504-0158-6F04-9F9B-2054AE497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3314" y="6356618"/>
            <a:ext cx="588631" cy="345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EE906F58-0485-4FF4-859B-578B190F135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69E25F4-C267-F763-1BCD-F552D0C1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7326"/>
            <a:ext cx="10485438" cy="350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70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485438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1FE8288A-0CAC-BE09-45C9-D0666380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485438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C67DD-3623-140C-C530-0CC6392B4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6539" y="6356350"/>
            <a:ext cx="41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D1D1C9-D504-4770-ADC5-5222AD533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8" y="6356350"/>
            <a:ext cx="3413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49F6E583-CC1C-6842-8E90-5D2DEF20E5D5}" type="datetime1">
              <a:rPr lang="de-DE" smtClean="0"/>
              <a:t>03.09.25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D8338F-B25C-CA04-9BE8-F9F8B17AD15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0542" y="6392438"/>
            <a:ext cx="2262108" cy="2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0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7" r:id="rId2"/>
    <p:sldLayoutId id="2147483808" r:id="rId3"/>
    <p:sldLayoutId id="2147483809" r:id="rId4"/>
    <p:sldLayoutId id="2147483810" r:id="rId5"/>
    <p:sldLayoutId id="2147483853" r:id="rId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71">
          <p15:clr>
            <a:srgbClr val="F26B43"/>
          </p15:clr>
        </p15:guide>
        <p15:guide id="2" orient="horz" pos="469">
          <p15:clr>
            <a:srgbClr val="F26B43"/>
          </p15:clr>
        </p15:guide>
        <p15:guide id="3" orient="horz" pos="1152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orient="horz" pos="4234">
          <p15:clr>
            <a:srgbClr val="F26B43"/>
          </p15:clr>
        </p15:guide>
        <p15:guide id="6" pos="529">
          <p15:clr>
            <a:srgbClr val="F26B43"/>
          </p15:clr>
        </p15:guide>
        <p15:guide id="7" pos="2670">
          <p15:clr>
            <a:srgbClr val="F26B43"/>
          </p15:clr>
        </p15:guide>
        <p15:guide id="8" pos="2769">
          <p15:clr>
            <a:srgbClr val="F26B43"/>
          </p15:clr>
        </p15:guide>
        <p15:guide id="9" pos="4902">
          <p15:clr>
            <a:srgbClr val="F26B43"/>
          </p15:clr>
        </p15:guide>
        <p15:guide id="10" pos="5001">
          <p15:clr>
            <a:srgbClr val="F26B43"/>
          </p15:clr>
        </p15:guide>
        <p15:guide id="11" pos="7133">
          <p15:clr>
            <a:srgbClr val="F26B43"/>
          </p15:clr>
        </p15:guide>
        <p15:guide id="12" orient="horz" pos="4001">
          <p15:clr>
            <a:srgbClr val="F26B43"/>
          </p15:clr>
        </p15:guide>
        <p15:guide id="13" pos="3795">
          <p15:clr>
            <a:srgbClr val="F26B43"/>
          </p15:clr>
        </p15:guide>
        <p15:guide id="14" pos="388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ED50A2-8CE4-30F7-6EBE-78E53C73BC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duotone>
              <a:prstClr val="black"/>
              <a:schemeClr val="tx2">
                <a:tint val="45000"/>
                <a:satMod val="400000"/>
              </a:schemeClr>
            </a:duotone>
            <a:alphaModFix amt="2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935" t="2441" r="8757" b="24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BAD44FC-7C6D-D7E6-CF10-349FCF33E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6538" y="6356350"/>
            <a:ext cx="4472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7741-9676-2A4C-B109-82A7BC6B6ED4}" type="slidenum">
              <a:rPr lang="en-IT" smtClean="0"/>
              <a:t>‹Nº›</a:t>
            </a:fld>
            <a:endParaRPr lang="en-IT"/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F2AA6D69-213D-4B91-A6BB-660921A14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8" y="6356350"/>
            <a:ext cx="3413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2883A76A-7470-8447-BC40-C39608E50BC2}" type="datetime1">
              <a:rPr lang="de-DE" smtClean="0"/>
              <a:t>03.09.25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B6D84521-A4A8-190F-1431-6D94AB42E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9089" y="6351588"/>
            <a:ext cx="338454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E03C9-2607-86CA-B65C-067805F786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0542" y="6392438"/>
            <a:ext cx="2262108" cy="2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bg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71">
          <p15:clr>
            <a:srgbClr val="F26B43"/>
          </p15:clr>
        </p15:guide>
        <p15:guide id="2" orient="horz" pos="469">
          <p15:clr>
            <a:srgbClr val="F26B43"/>
          </p15:clr>
        </p15:guide>
        <p15:guide id="3" orient="horz" pos="1152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orient="horz" pos="4234">
          <p15:clr>
            <a:srgbClr val="F26B43"/>
          </p15:clr>
        </p15:guide>
        <p15:guide id="6" pos="529">
          <p15:clr>
            <a:srgbClr val="F26B43"/>
          </p15:clr>
        </p15:guide>
        <p15:guide id="7" pos="2670">
          <p15:clr>
            <a:srgbClr val="F26B43"/>
          </p15:clr>
        </p15:guide>
        <p15:guide id="8" pos="2769">
          <p15:clr>
            <a:srgbClr val="F26B43"/>
          </p15:clr>
        </p15:guide>
        <p15:guide id="9" pos="4902">
          <p15:clr>
            <a:srgbClr val="F26B43"/>
          </p15:clr>
        </p15:guide>
        <p15:guide id="10" pos="5001">
          <p15:clr>
            <a:srgbClr val="F26B43"/>
          </p15:clr>
        </p15:guide>
        <p15:guide id="11" pos="7133">
          <p15:clr>
            <a:srgbClr val="F26B43"/>
          </p15:clr>
        </p15:guide>
        <p15:guide id="12" orient="horz" pos="4001">
          <p15:clr>
            <a:srgbClr val="F26B43"/>
          </p15:clr>
        </p15:guide>
        <p15:guide id="13" pos="3795">
          <p15:clr>
            <a:srgbClr val="F26B43"/>
          </p15:clr>
        </p15:guide>
        <p15:guide id="14" pos="38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1FE8288A-0CAC-BE09-45C9-D0666380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538"/>
            <a:ext cx="10485438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CEB9BD-4DAD-FFFB-F0BA-33FC77CEB10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347" y="6404478"/>
            <a:ext cx="2427306" cy="27101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CC9A4A-3019-1987-FED4-C5F49D59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485438" cy="412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C93E5FF-F71C-8C17-B4A5-95FD28A16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6539" y="6356350"/>
            <a:ext cx="41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46E97741-9676-2A4C-B109-82A7BC6B6ED4}" type="slidenum">
              <a:rPr lang="en-IT" smtClean="0"/>
              <a:pPr/>
              <a:t>‹Nº›</a:t>
            </a:fld>
            <a:endParaRPr lang="en-IT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1D7B6B4-17A0-3075-FA26-C24F50851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33845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83B5C2DD-5CCA-0448-BF88-D613E9DCD938}" type="datetime1">
              <a:rPr lang="de-DE" smtClean="0"/>
              <a:t>03.09.25</a:t>
            </a:fld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55949F6-C5F7-AC21-26A3-0C103324C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39088" y="6351588"/>
            <a:ext cx="3384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704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D75B32"/>
        </a:buClr>
        <a:buSzPct val="80000"/>
        <a:buFont typeface="Wingdings" pitchFamily="2" charset="2"/>
        <a:buChar char="§"/>
        <a:defRPr sz="2400" b="0" i="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71">
          <p15:clr>
            <a:srgbClr val="F26B43"/>
          </p15:clr>
        </p15:guide>
        <p15:guide id="2" orient="horz" pos="469">
          <p15:clr>
            <a:srgbClr val="F26B43"/>
          </p15:clr>
        </p15:guide>
        <p15:guide id="3" orient="horz" pos="1152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orient="horz" pos="4234">
          <p15:clr>
            <a:srgbClr val="F26B43"/>
          </p15:clr>
        </p15:guide>
        <p15:guide id="6" pos="529">
          <p15:clr>
            <a:srgbClr val="F26B43"/>
          </p15:clr>
        </p15:guide>
        <p15:guide id="7" pos="2670">
          <p15:clr>
            <a:srgbClr val="F26B43"/>
          </p15:clr>
        </p15:guide>
        <p15:guide id="8" pos="2769">
          <p15:clr>
            <a:srgbClr val="F26B43"/>
          </p15:clr>
        </p15:guide>
        <p15:guide id="9" pos="4902">
          <p15:clr>
            <a:srgbClr val="F26B43"/>
          </p15:clr>
        </p15:guide>
        <p15:guide id="10" pos="5001">
          <p15:clr>
            <a:srgbClr val="F26B43"/>
          </p15:clr>
        </p15:guide>
        <p15:guide id="11" pos="7133">
          <p15:clr>
            <a:srgbClr val="F26B43"/>
          </p15:clr>
        </p15:guide>
        <p15:guide id="12" orient="horz" pos="4001">
          <p15:clr>
            <a:srgbClr val="F26B43"/>
          </p15:clr>
        </p15:guide>
        <p15:guide id="13" pos="3795">
          <p15:clr>
            <a:srgbClr val="F26B43"/>
          </p15:clr>
        </p15:guide>
        <p15:guide id="14" pos="38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hyperlink" Target="mailto:curious@quointelligence.eu" TargetMode="External"/><Relationship Id="rId7" Type="http://schemas.openxmlformats.org/officeDocument/2006/relationships/image" Target="../media/image37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quointelligence.eu/" TargetMode="External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0CF58-7E34-06EA-C930-AED6CEC75F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6582" y="4376936"/>
            <a:ext cx="10460140" cy="114045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b="1" cap="all" dirty="0">
                <a:effectLst/>
                <a:latin typeface="Inter" panose="02000503000000020004" pitchFamily="2" charset="0"/>
                <a:ea typeface="MS Gothic" panose="020B0609070205080204" pitchFamily="49" charset="-128"/>
                <a:cs typeface="Times New Roman" panose="02020603050405020304" pitchFamily="18" charset="0"/>
              </a:rPr>
              <a:t>The Proxy WARFARE: Unmasking Russian and Chinese Externalized Cyber Capabilities</a:t>
            </a:r>
            <a:endParaRPr lang="es-ES" sz="2400" b="1" dirty="0">
              <a:effectLst/>
              <a:latin typeface="Glacial Indifference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BC55D6-9A14-F657-C430-26EBE5309E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CCC07-D6F7-FFE5-EC40-3C0F08A8F6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6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B4E732-10C8-05BB-9C28-F3826F54B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C3E934-F416-9F09-C212-44CFC5F6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6C8950DA-5DBF-BB26-139D-1F0D93C3C344}"/>
              </a:ext>
            </a:extLst>
          </p:cNvPr>
          <p:cNvSpPr txBox="1">
            <a:spLocks/>
          </p:cNvSpPr>
          <p:nvPr/>
        </p:nvSpPr>
        <p:spPr>
          <a:xfrm>
            <a:off x="4416553" y="3550499"/>
            <a:ext cx="6711952" cy="1364092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227013" indent="-227013">
              <a:lnSpc>
                <a:spcPct val="100000"/>
              </a:lnSpc>
              <a:buClr>
                <a:srgbClr val="D8512B"/>
              </a:buClr>
              <a:buFont typeface="Wingdings" pitchFamily="2" charset="2"/>
              <a:buChar char="§"/>
            </a:pPr>
            <a:r>
              <a:rPr lang="en-US" sz="1800" b="0" dirty="0"/>
              <a:t>Geopolitical Analyst at </a:t>
            </a:r>
            <a:r>
              <a:rPr lang="en-US" sz="1800" dirty="0"/>
              <a:t>QuoIntelligence</a:t>
            </a:r>
            <a:r>
              <a:rPr lang="en-US" sz="1800" b="0" dirty="0"/>
              <a:t> </a:t>
            </a:r>
            <a:endParaRPr lang="en-US" sz="1800" b="0" dirty="0">
              <a:highlight>
                <a:srgbClr val="D8512B"/>
              </a:highlight>
            </a:endParaRPr>
          </a:p>
          <a:p>
            <a:pPr marL="227013" indent="-227013">
              <a:lnSpc>
                <a:spcPct val="100000"/>
              </a:lnSpc>
              <a:buClr>
                <a:srgbClr val="D8512B"/>
              </a:buClr>
              <a:buFont typeface="Wingdings" pitchFamily="2" charset="2"/>
              <a:buChar char="§"/>
            </a:pPr>
            <a:r>
              <a:rPr lang="en-US" sz="1800" b="0" dirty="0"/>
              <a:t>Previous role as intelligence analyst at the French MoD</a:t>
            </a:r>
          </a:p>
          <a:p>
            <a:pPr marL="227013" indent="-227013">
              <a:lnSpc>
                <a:spcPct val="100000"/>
              </a:lnSpc>
              <a:buClr>
                <a:srgbClr val="D8512B"/>
              </a:buClr>
              <a:buFont typeface="Wingdings" pitchFamily="2" charset="2"/>
              <a:buChar char="§"/>
            </a:pPr>
            <a:r>
              <a:rPr lang="en-US" sz="1800" b="0" dirty="0"/>
              <a:t>Assessment of political and security situations</a:t>
            </a:r>
          </a:p>
          <a:p>
            <a:pPr marL="227013" indent="-227013">
              <a:lnSpc>
                <a:spcPct val="100000"/>
              </a:lnSpc>
              <a:buClr>
                <a:srgbClr val="D8512B"/>
              </a:buClr>
              <a:buFont typeface="Wingdings" pitchFamily="2" charset="2"/>
              <a:buChar char="§"/>
            </a:pPr>
            <a:r>
              <a:rPr lang="en-US" sz="1800" b="0" dirty="0"/>
              <a:t>Providing strategic insights combining geopolitics and CTI</a:t>
            </a: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965760D3-B96E-4113-5AFC-992DD67A6C83}"/>
              </a:ext>
            </a:extLst>
          </p:cNvPr>
          <p:cNvSpPr txBox="1">
            <a:spLocks/>
          </p:cNvSpPr>
          <p:nvPr/>
        </p:nvSpPr>
        <p:spPr>
          <a:xfrm>
            <a:off x="4416553" y="2791838"/>
            <a:ext cx="4129408" cy="63575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 sz="2600"/>
              <a:t>ALIXIA RUTAYISIRE</a:t>
            </a:r>
          </a:p>
        </p:txBody>
      </p:sp>
      <p:pic>
        <p:nvPicPr>
          <p:cNvPr id="9" name="Marcador de contenido 7" descr="Una mujer con una camisa blanca&#10;&#10;Descripción generada automáticamente">
            <a:extLst>
              <a:ext uri="{FF2B5EF4-FFF2-40B4-BE49-F238E27FC236}">
                <a16:creationId xmlns:a16="http://schemas.microsoft.com/office/drawing/2014/main" id="{DBBB412A-E6AB-2A96-813D-B1EEBC973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8" b="30608"/>
          <a:stretch/>
        </p:blipFill>
        <p:spPr>
          <a:xfrm>
            <a:off x="2111448" y="2791838"/>
            <a:ext cx="2028882" cy="2031754"/>
          </a:xfrm>
          <a:prstGeom prst="ellipse">
            <a:avLst/>
          </a:prstGeom>
        </p:spPr>
      </p:pic>
      <p:sp>
        <p:nvSpPr>
          <p:cNvPr id="10" name="Title 5">
            <a:extLst>
              <a:ext uri="{FF2B5EF4-FFF2-40B4-BE49-F238E27FC236}">
                <a16:creationId xmlns:a16="http://schemas.microsoft.com/office/drawing/2014/main" id="{0BEFD161-ED73-1C53-DF2B-C3FBA3413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074" y="744538"/>
            <a:ext cx="10469563" cy="946150"/>
          </a:xfrm>
        </p:spPr>
        <p:txBody>
          <a:bodyPr/>
          <a:lstStyle/>
          <a:p>
            <a:r>
              <a:rPr lang="en-US" sz="2800"/>
              <a:t>WHO I AM?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1192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D5B5113-F4E3-352E-AC4F-D9194F11D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068A149-26EA-8845-8B6D-0810F934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54063"/>
            <a:ext cx="10483850" cy="946150"/>
          </a:xfrm>
        </p:spPr>
        <p:txBody>
          <a:bodyPr/>
          <a:lstStyle/>
          <a:p>
            <a:r>
              <a:rPr lang="en-US" dirty="0"/>
              <a:t>SETTING THE STAGE: </a:t>
            </a:r>
            <a:r>
              <a:rPr lang="en-US" dirty="0">
                <a:highlight>
                  <a:srgbClr val="D8512B"/>
                </a:highlight>
              </a:rPr>
              <a:t>Methodology, Scope, Structure</a:t>
            </a:r>
          </a:p>
        </p:txBody>
      </p:sp>
      <p:pic>
        <p:nvPicPr>
          <p:cNvPr id="8" name="Marcador de contenido 7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F54F3959-9347-C7BB-A791-933E66550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6" t="12006" r="80737" b="68510"/>
          <a:stretch>
            <a:fillRect/>
          </a:stretch>
        </p:blipFill>
        <p:spPr>
          <a:xfrm>
            <a:off x="1781530" y="2016164"/>
            <a:ext cx="875962" cy="946150"/>
          </a:xfrm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A7B6C4-A1A0-2972-BF55-A750782C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12E91-8D7F-4BF2-3BA5-D0C59CE1F43B}"/>
              </a:ext>
            </a:extLst>
          </p:cNvPr>
          <p:cNvSpPr txBox="1"/>
          <p:nvPr/>
        </p:nvSpPr>
        <p:spPr>
          <a:xfrm>
            <a:off x="839788" y="3770810"/>
            <a:ext cx="33988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Leaks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US Indictments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Intelligence agencies’ reports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Academic research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CTI companies’ reports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C4532A-9220-78BB-7448-40A774D19058}"/>
              </a:ext>
            </a:extLst>
          </p:cNvPr>
          <p:cNvSpPr txBox="1"/>
          <p:nvPr/>
        </p:nvSpPr>
        <p:spPr>
          <a:xfrm>
            <a:off x="4400112" y="3770810"/>
            <a:ext cx="33988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Participation of non-state actors in cyber operations to the benefit of a State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Focus on private companies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Front companies are out of scope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38972-BF43-4161-36F5-80B3578B2499}"/>
              </a:ext>
            </a:extLst>
          </p:cNvPr>
          <p:cNvSpPr txBox="1"/>
          <p:nvPr/>
        </p:nvSpPr>
        <p:spPr>
          <a:xfrm>
            <a:off x="7950708" y="3770810"/>
            <a:ext cx="33988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Russia’s case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China’s case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Comparative analysis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Conclusions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Marcador de contenido 7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1478449A-51E1-8EF0-B2E5-546599377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81" t="12006" r="42772" b="68510"/>
          <a:stretch>
            <a:fillRect/>
          </a:stretch>
        </p:blipFill>
        <p:spPr>
          <a:xfrm>
            <a:off x="5341853" y="2016164"/>
            <a:ext cx="875962" cy="946150"/>
          </a:xfrm>
          <a:prstGeom prst="rect">
            <a:avLst/>
          </a:prstGeom>
        </p:spPr>
      </p:pic>
      <p:pic>
        <p:nvPicPr>
          <p:cNvPr id="14" name="Marcador de contenido 7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CC829474-89CF-693C-38CE-CAA989847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27" t="12006" r="6926" b="68510"/>
          <a:stretch>
            <a:fillRect/>
          </a:stretch>
        </p:blipFill>
        <p:spPr>
          <a:xfrm>
            <a:off x="8892449" y="2016164"/>
            <a:ext cx="875962" cy="946150"/>
          </a:xfrm>
          <a:prstGeom prst="rect">
            <a:avLst/>
          </a:prstGeom>
        </p:spPr>
      </p:pic>
      <p:sp>
        <p:nvSpPr>
          <p:cNvPr id="15" name="Título 2">
            <a:extLst>
              <a:ext uri="{FF2B5EF4-FFF2-40B4-BE49-F238E27FC236}">
                <a16:creationId xmlns:a16="http://schemas.microsoft.com/office/drawing/2014/main" id="{B84907A0-83E4-C60F-061D-A628C83847B0}"/>
              </a:ext>
            </a:extLst>
          </p:cNvPr>
          <p:cNvSpPr txBox="1">
            <a:spLocks/>
          </p:cNvSpPr>
          <p:nvPr/>
        </p:nvSpPr>
        <p:spPr>
          <a:xfrm>
            <a:off x="839788" y="2999325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algn="ctr"/>
            <a:r>
              <a:rPr lang="en-US" sz="2000"/>
              <a:t>METODOLOGY</a:t>
            </a:r>
            <a:endParaRPr lang="en-US" sz="2000">
              <a:highlight>
                <a:srgbClr val="D8512B"/>
              </a:highlight>
            </a:endParaRPr>
          </a:p>
        </p:txBody>
      </p:sp>
      <p:sp>
        <p:nvSpPr>
          <p:cNvPr id="16" name="Título 2">
            <a:extLst>
              <a:ext uri="{FF2B5EF4-FFF2-40B4-BE49-F238E27FC236}">
                <a16:creationId xmlns:a16="http://schemas.microsoft.com/office/drawing/2014/main" id="{30E3772E-43F0-0E6B-F11D-28912A188FE2}"/>
              </a:ext>
            </a:extLst>
          </p:cNvPr>
          <p:cNvSpPr txBox="1">
            <a:spLocks/>
          </p:cNvSpPr>
          <p:nvPr/>
        </p:nvSpPr>
        <p:spPr>
          <a:xfrm>
            <a:off x="4400111" y="2999325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algn="ctr"/>
            <a:r>
              <a:rPr lang="en-US" sz="2000"/>
              <a:t>SCOPE</a:t>
            </a:r>
            <a:endParaRPr lang="en-US" sz="2000">
              <a:highlight>
                <a:srgbClr val="D8512B"/>
              </a:highlight>
            </a:endParaRPr>
          </a:p>
        </p:txBody>
      </p:sp>
      <p:sp>
        <p:nvSpPr>
          <p:cNvPr id="17" name="Título 2">
            <a:extLst>
              <a:ext uri="{FF2B5EF4-FFF2-40B4-BE49-F238E27FC236}">
                <a16:creationId xmlns:a16="http://schemas.microsoft.com/office/drawing/2014/main" id="{51D68F91-0C6F-054A-BF5B-2A0610EDF86D}"/>
              </a:ext>
            </a:extLst>
          </p:cNvPr>
          <p:cNvSpPr txBox="1">
            <a:spLocks/>
          </p:cNvSpPr>
          <p:nvPr/>
        </p:nvSpPr>
        <p:spPr>
          <a:xfrm>
            <a:off x="7950707" y="2999325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algn="ctr"/>
            <a:r>
              <a:rPr lang="en-US" sz="2000"/>
              <a:t>STRUCTURE</a:t>
            </a:r>
            <a:endParaRPr lang="en-US" sz="2000">
              <a:highlight>
                <a:srgbClr val="D8512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459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5808CDB-6231-253F-55AE-8080C048D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C4FC24-529E-B253-543B-34FAB291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0A2B1343-85DC-7556-E8AD-56F5E319C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7"/>
            <a:ext cx="10483850" cy="941391"/>
          </a:xfrm>
          <a:ln w="3175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RUSSIA: Cybercrime network </a:t>
            </a:r>
            <a:r>
              <a:rPr lang="en-US" dirty="0">
                <a:highlight>
                  <a:srgbClr val="D8512B"/>
                </a:highlight>
              </a:rPr>
              <a:t>historical development </a:t>
            </a:r>
          </a:p>
        </p:txBody>
      </p:sp>
      <p:pic>
        <p:nvPicPr>
          <p:cNvPr id="9" name="Picture 8" descr="A diagram of a crime investigation&#10;&#10;AI-generated content may be incorrect.">
            <a:extLst>
              <a:ext uri="{FF2B5EF4-FFF2-40B4-BE49-F238E27FC236}">
                <a16:creationId xmlns:a16="http://schemas.microsoft.com/office/drawing/2014/main" id="{0B7B6D72-918E-5C0D-1619-7AFC5A5B9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80141"/>
            <a:ext cx="7772400" cy="40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4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3B47618-92C1-D40E-FC10-B8EDAD73A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AFEA9CC-3991-E90C-23BA-9DA43643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2156" cy="955675"/>
          </a:xfrm>
          <a:ln w="31750">
            <a:noFill/>
          </a:ln>
        </p:spPr>
        <p:txBody>
          <a:bodyPr>
            <a:normAutofit/>
          </a:bodyPr>
          <a:lstStyle/>
          <a:p>
            <a:r>
              <a:rPr lang="en-US" dirty="0"/>
              <a:t>RUSSIA: </a:t>
            </a:r>
            <a:r>
              <a:rPr lang="en-US" dirty="0">
                <a:highlight>
                  <a:srgbClr val="D8512B"/>
                </a:highlight>
              </a:rPr>
              <a:t>Intelligence agencies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D13113-A98D-E75D-AEC8-1D7E956B5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437A4-6C86-987F-BA66-04D8201FAAD0}"/>
              </a:ext>
            </a:extLst>
          </p:cNvPr>
          <p:cNvSpPr txBox="1"/>
          <p:nvPr/>
        </p:nvSpPr>
        <p:spPr>
          <a:xfrm>
            <a:off x="2200375" y="3763750"/>
            <a:ext cx="2052535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Domestic intelligence 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Counterintelligence and law enforcement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Scope includes Russia’s near-abroad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BFB452-0653-917E-1826-9F2BDF6FE2E6}"/>
              </a:ext>
            </a:extLst>
          </p:cNvPr>
          <p:cNvSpPr txBox="1"/>
          <p:nvPr/>
        </p:nvSpPr>
        <p:spPr>
          <a:xfrm>
            <a:off x="5690681" y="3763750"/>
            <a:ext cx="2091244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External civilian intelligence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Conducts strategic, economic, scientific and technological espionage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7D6B1384-3AAC-E23A-A3A0-19AC1FE1C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7" t="41500" r="72850" b="29597"/>
          <a:stretch>
            <a:fillRect/>
          </a:stretch>
        </p:blipFill>
        <p:spPr>
          <a:xfrm>
            <a:off x="1268393" y="3763750"/>
            <a:ext cx="915513" cy="1168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C25EE9-0A80-9EC6-D32C-D6EEC15B1DE7}"/>
              </a:ext>
            </a:extLst>
          </p:cNvPr>
          <p:cNvSpPr txBox="1"/>
          <p:nvPr/>
        </p:nvSpPr>
        <p:spPr>
          <a:xfrm>
            <a:off x="9094808" y="3763750"/>
            <a:ext cx="182879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Military intelligence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4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Broader scope matching Russia’s strategic interests</a:t>
            </a:r>
            <a:endParaRPr lang="en-GB" sz="1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0FFD5F75-E4FA-68A6-15C9-C4997D340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0" t="41500" r="43787" b="29597"/>
          <a:stretch>
            <a:fillRect/>
          </a:stretch>
        </p:blipFill>
        <p:spPr>
          <a:xfrm>
            <a:off x="4758699" y="3763750"/>
            <a:ext cx="915513" cy="1168024"/>
          </a:xfrm>
          <a:prstGeom prst="rect">
            <a:avLst/>
          </a:prstGeom>
        </p:spPr>
      </p:pic>
      <p:pic>
        <p:nvPicPr>
          <p:cNvPr id="12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1C501DB7-65CA-04E8-F135-02FBF0E3E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29" t="41500" r="14628" b="29597"/>
          <a:stretch>
            <a:fillRect/>
          </a:stretch>
        </p:blipFill>
        <p:spPr>
          <a:xfrm>
            <a:off x="8162826" y="3763750"/>
            <a:ext cx="915513" cy="1168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7FBE16-FC80-A5E1-52C8-A0FCD81CD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569" y="2218812"/>
            <a:ext cx="823302" cy="5539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427ADC-AC01-9CC5-75B6-E8E5CA121302}"/>
              </a:ext>
            </a:extLst>
          </p:cNvPr>
          <p:cNvSpPr txBox="1"/>
          <p:nvPr/>
        </p:nvSpPr>
        <p:spPr>
          <a:xfrm>
            <a:off x="5593201" y="2218812"/>
            <a:ext cx="2188724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b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PRESINDENTIAL</a:t>
            </a:r>
          </a:p>
          <a:p>
            <a:pPr>
              <a:buClr>
                <a:schemeClr val="accent1"/>
              </a:buClr>
            </a:pPr>
            <a:r>
              <a:rPr lang="en-GB" b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en-GB" b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89D6A35C-6972-C6A8-7610-3936D6CCE160}"/>
              </a:ext>
            </a:extLst>
          </p:cNvPr>
          <p:cNvCxnSpPr>
            <a:cxnSpLocks/>
          </p:cNvCxnSpPr>
          <p:nvPr/>
        </p:nvCxnSpPr>
        <p:spPr>
          <a:xfrm>
            <a:off x="8016558" y="2527343"/>
            <a:ext cx="1208047" cy="901657"/>
          </a:xfrm>
          <a:prstGeom prst="bentConnector3">
            <a:avLst>
              <a:gd name="adj1" fmla="val 9912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65D4766D-03DD-7FB7-CFB0-246CF83BF685}"/>
              </a:ext>
            </a:extLst>
          </p:cNvPr>
          <p:cNvCxnSpPr>
            <a:cxnSpLocks/>
          </p:cNvCxnSpPr>
          <p:nvPr/>
        </p:nvCxnSpPr>
        <p:spPr>
          <a:xfrm flipH="1">
            <a:off x="2967395" y="2527343"/>
            <a:ext cx="1208047" cy="901657"/>
          </a:xfrm>
          <a:prstGeom prst="bentConnector3">
            <a:avLst>
              <a:gd name="adj1" fmla="val 99120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E22AC4D-7431-87E0-96C7-5506B5950E9E}"/>
              </a:ext>
            </a:extLst>
          </p:cNvPr>
          <p:cNvCxnSpPr>
            <a:cxnSpLocks/>
          </p:cNvCxnSpPr>
          <p:nvPr/>
        </p:nvCxnSpPr>
        <p:spPr>
          <a:xfrm>
            <a:off x="6096000" y="2940185"/>
            <a:ext cx="0" cy="488815"/>
          </a:xfrm>
          <a:prstGeom prst="straightConnector1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5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C812CBE-E51D-E7B8-1C68-EE11E5075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CFC85E5-D327-4DB8-D842-0E029C08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864"/>
            <a:ext cx="10482157" cy="955350"/>
          </a:xfrm>
          <a:noFill/>
          <a:ln w="31750">
            <a:noFill/>
          </a:ln>
        </p:spPr>
        <p:txBody>
          <a:bodyPr>
            <a:normAutofit/>
          </a:bodyPr>
          <a:lstStyle/>
          <a:p>
            <a:r>
              <a:rPr lang="en-US"/>
              <a:t>RUSSIA: The </a:t>
            </a:r>
            <a:r>
              <a:rPr lang="en-US">
                <a:highlight>
                  <a:srgbClr val="D8512B"/>
                </a:highlight>
              </a:rPr>
              <a:t>outsourcing ecosystem 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70FF4D-24C0-1EA5-CBE5-C56CD639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B45277-A8D4-F51D-6780-66C6146C4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8313" y="2125494"/>
            <a:ext cx="7772400" cy="3501850"/>
          </a:xfrm>
          <a:prstGeom prst="rect">
            <a:avLst/>
          </a:prstGeom>
        </p:spPr>
      </p:pic>
      <p:sp>
        <p:nvSpPr>
          <p:cNvPr id="12" name="CuadroTexto 23">
            <a:extLst>
              <a:ext uri="{FF2B5EF4-FFF2-40B4-BE49-F238E27FC236}">
                <a16:creationId xmlns:a16="http://schemas.microsoft.com/office/drawing/2014/main" id="{C927BF65-B343-0408-F0AA-F4EB13E9D712}"/>
              </a:ext>
            </a:extLst>
          </p:cNvPr>
          <p:cNvSpPr txBox="1"/>
          <p:nvPr/>
        </p:nvSpPr>
        <p:spPr>
          <a:xfrm>
            <a:off x="5717708" y="2875188"/>
            <a:ext cx="2920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Layers of outsourcing:</a:t>
            </a:r>
          </a:p>
        </p:txBody>
      </p:sp>
    </p:spTree>
    <p:extLst>
      <p:ext uri="{BB962C8B-B14F-4D97-AF65-F5344CB8AC3E}">
        <p14:creationId xmlns:p14="http://schemas.microsoft.com/office/powerpoint/2010/main" val="195544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FCCB010-C62F-B6B0-4672-55C4E60C4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634B9DE-177B-71EF-9A64-65A6B15D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4" y="744537"/>
            <a:ext cx="10454323" cy="941387"/>
          </a:xfrm>
        </p:spPr>
        <p:txBody>
          <a:bodyPr/>
          <a:lstStyle/>
          <a:p>
            <a:r>
              <a:rPr lang="en-US"/>
              <a:t>RUSSIA: Proxy </a:t>
            </a:r>
            <a:r>
              <a:rPr lang="en-US">
                <a:highlight>
                  <a:srgbClr val="D8512B"/>
                </a:highlight>
              </a:rPr>
              <a:t>services offering 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4B2FE5-B795-2647-E6CA-EF042D33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9" name="Picture 8" descr="A white line icon with a magnifying glass and people&#10;&#10;AI-generated content may be incorrect.">
            <a:extLst>
              <a:ext uri="{FF2B5EF4-FFF2-40B4-BE49-F238E27FC236}">
                <a16:creationId xmlns:a16="http://schemas.microsoft.com/office/drawing/2014/main" id="{78B4D964-03F9-247B-31B2-34831184C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90"/>
          <a:stretch>
            <a:fillRect/>
          </a:stretch>
        </p:blipFill>
        <p:spPr>
          <a:xfrm>
            <a:off x="930367" y="2490282"/>
            <a:ext cx="10352666" cy="13854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E0BD27-E662-658C-0286-135D30C32347}"/>
              </a:ext>
            </a:extLst>
          </p:cNvPr>
          <p:cNvSpPr txBox="1"/>
          <p:nvPr/>
        </p:nvSpPr>
        <p:spPr>
          <a:xfrm>
            <a:off x="930367" y="4099706"/>
            <a:ext cx="13514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Vulnerability Identification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4F1DC-436B-67D8-6B9B-E57318593AA6}"/>
              </a:ext>
            </a:extLst>
          </p:cNvPr>
          <p:cNvSpPr txBox="1"/>
          <p:nvPr/>
        </p:nvSpPr>
        <p:spPr>
          <a:xfrm>
            <a:off x="3279284" y="4099706"/>
            <a:ext cx="13514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Tools &amp;</a:t>
            </a:r>
          </a:p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Solutions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48E3EF-540E-0817-EE19-F60E08A03F35}"/>
              </a:ext>
            </a:extLst>
          </p:cNvPr>
          <p:cNvSpPr txBox="1"/>
          <p:nvPr/>
        </p:nvSpPr>
        <p:spPr>
          <a:xfrm>
            <a:off x="5426866" y="4099706"/>
            <a:ext cx="1351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Recruiting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19A72-538D-D0BE-73F5-18762DDD780F}"/>
              </a:ext>
            </a:extLst>
          </p:cNvPr>
          <p:cNvSpPr txBox="1"/>
          <p:nvPr/>
        </p:nvSpPr>
        <p:spPr>
          <a:xfrm>
            <a:off x="7742228" y="4099706"/>
            <a:ext cx="1351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Training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0F75E-ECA4-E55D-BC36-D4A8A3138BFB}"/>
              </a:ext>
            </a:extLst>
          </p:cNvPr>
          <p:cNvSpPr txBox="1"/>
          <p:nvPr/>
        </p:nvSpPr>
        <p:spPr>
          <a:xfrm>
            <a:off x="10099535" y="4099706"/>
            <a:ext cx="13514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Information</a:t>
            </a:r>
            <a:b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</a:b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Operation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53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AF390DA-412D-AC96-9B18-313659E0E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7523372-FBA4-8AB9-1874-95C47A0F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54063"/>
            <a:ext cx="10483850" cy="946150"/>
          </a:xfrm>
        </p:spPr>
        <p:txBody>
          <a:bodyPr/>
          <a:lstStyle/>
          <a:p>
            <a:r>
              <a:rPr lang="en-US"/>
              <a:t>RUSSIA: Outsourcing </a:t>
            </a:r>
            <a:r>
              <a:rPr lang="en-US">
                <a:highlight>
                  <a:srgbClr val="D8512B"/>
                </a:highlight>
              </a:rPr>
              <a:t>risk-benefit calculus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7ACDC2-FA8C-B6BD-9270-763ECF3B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3A923-0CC1-3D09-B1B7-FC5B6B06ECE6}"/>
              </a:ext>
            </a:extLst>
          </p:cNvPr>
          <p:cNvSpPr txBox="1"/>
          <p:nvPr/>
        </p:nvSpPr>
        <p:spPr>
          <a:xfrm>
            <a:off x="2697605" y="3146577"/>
            <a:ext cx="311061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Lack of control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Risky </a:t>
            </a:r>
            <a:r>
              <a:rPr lang="en-GB" sz="20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behavior</a:t>
            </a:r>
            <a:endParaRPr lang="en-GB" sz="2000" dirty="0">
              <a:solidFill>
                <a:srgbClr val="FFFFFF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Uncertain mobilization</a:t>
            </a:r>
            <a:endParaRPr lang="en-GB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89BAF-BD27-7CD7-4DA7-A2F9C1DABB96}"/>
              </a:ext>
            </a:extLst>
          </p:cNvPr>
          <p:cNvSpPr txBox="1"/>
          <p:nvPr/>
        </p:nvSpPr>
        <p:spPr>
          <a:xfrm>
            <a:off x="6772893" y="3146577"/>
            <a:ext cx="3413122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Reduced costs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Unparalleled </a:t>
            </a:r>
            <a:r>
              <a:rPr lang="en-GB" sz="20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Flexibility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2000" strike="sngStrike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Plausible deniability</a:t>
            </a:r>
            <a:endParaRPr lang="en-GB" sz="2000" strike="sngStrike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BA998A59-1454-A8F5-E2FA-D1876C371612}"/>
              </a:ext>
            </a:extLst>
          </p:cNvPr>
          <p:cNvSpPr txBox="1">
            <a:spLocks/>
          </p:cNvSpPr>
          <p:nvPr/>
        </p:nvSpPr>
        <p:spPr>
          <a:xfrm>
            <a:off x="2601297" y="2557851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 sz="2200"/>
              <a:t>RISKS</a:t>
            </a:r>
            <a:endParaRPr lang="en-US" sz="2200">
              <a:highlight>
                <a:srgbClr val="D8512B"/>
              </a:highlight>
            </a:endParaRPr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460EB61C-DE20-9B06-7C24-54E1482AA2D4}"/>
              </a:ext>
            </a:extLst>
          </p:cNvPr>
          <p:cNvSpPr txBox="1">
            <a:spLocks/>
          </p:cNvSpPr>
          <p:nvPr/>
        </p:nvSpPr>
        <p:spPr>
          <a:xfrm>
            <a:off x="6772893" y="2557851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 sz="2200"/>
              <a:t>BENEFITS</a:t>
            </a:r>
            <a:endParaRPr lang="en-US" sz="2200">
              <a:highlight>
                <a:srgbClr val="D8512B"/>
              </a:highlight>
            </a:endParaRPr>
          </a:p>
        </p:txBody>
      </p:sp>
      <p:pic>
        <p:nvPicPr>
          <p:cNvPr id="11" name="Picture 10" descr="A white line drawing of a symbol&#10;&#10;AI-generated content may be incorrect.">
            <a:extLst>
              <a:ext uri="{FF2B5EF4-FFF2-40B4-BE49-F238E27FC236}">
                <a16:creationId xmlns:a16="http://schemas.microsoft.com/office/drawing/2014/main" id="{C71C2581-6723-D0A3-A89E-121E96ECE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4252053"/>
            <a:ext cx="4152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2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44FFB5F-8F21-7D15-5847-28B8CE9C0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184D2D9-E735-DEC7-0CBF-C36A6977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3850" cy="955675"/>
          </a:xfrm>
        </p:spPr>
        <p:txBody>
          <a:bodyPr/>
          <a:lstStyle/>
          <a:p>
            <a:r>
              <a:rPr lang="en-US"/>
              <a:t>RUSSIA: The </a:t>
            </a:r>
            <a:r>
              <a:rPr lang="en-US">
                <a:highlight>
                  <a:srgbClr val="D8512B"/>
                </a:highlight>
              </a:rPr>
              <a:t>IO network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692D0A-8393-A4CF-CD20-E2880685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DEFF00-87F2-EF15-292A-8FCF4515F325}"/>
              </a:ext>
            </a:extLst>
          </p:cNvPr>
          <p:cNvGrpSpPr/>
          <p:nvPr/>
        </p:nvGrpSpPr>
        <p:grpSpPr>
          <a:xfrm>
            <a:off x="4563368" y="995459"/>
            <a:ext cx="5990644" cy="4867082"/>
            <a:chOff x="4922195" y="2231299"/>
            <a:chExt cx="4475273" cy="3635922"/>
          </a:xfrm>
        </p:grpSpPr>
        <p:pic>
          <p:nvPicPr>
            <p:cNvPr id="10" name="Imagen 9" descr="Diagrama, Logotipo, nombre de la empresa&#10;&#10;El contenido generado por IA puede ser incorrecto.">
              <a:extLst>
                <a:ext uri="{FF2B5EF4-FFF2-40B4-BE49-F238E27FC236}">
                  <a16:creationId xmlns:a16="http://schemas.microsoft.com/office/drawing/2014/main" id="{1C001401-045C-6608-17D3-733EFEE98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91" t="58472" r="19426" b="7055"/>
            <a:stretch>
              <a:fillRect/>
            </a:stretch>
          </p:blipFill>
          <p:spPr>
            <a:xfrm>
              <a:off x="4922195" y="3429000"/>
              <a:ext cx="3647873" cy="978285"/>
            </a:xfrm>
            <a:prstGeom prst="rect">
              <a:avLst/>
            </a:prstGeom>
          </p:spPr>
        </p:pic>
        <p:pic>
          <p:nvPicPr>
            <p:cNvPr id="12" name="Imagen 11" descr="Diagrama&#10;&#10;El contenido generado por IA puede ser incorrecto.">
              <a:extLst>
                <a:ext uri="{FF2B5EF4-FFF2-40B4-BE49-F238E27FC236}">
                  <a16:creationId xmlns:a16="http://schemas.microsoft.com/office/drawing/2014/main" id="{0A7D4950-2805-CED9-ABCB-AF4C9E217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8" r="27551" b="63461"/>
            <a:stretch>
              <a:fillRect/>
            </a:stretch>
          </p:blipFill>
          <p:spPr>
            <a:xfrm>
              <a:off x="5764175" y="4380117"/>
              <a:ext cx="2448959" cy="343425"/>
            </a:xfrm>
            <a:prstGeom prst="rect">
              <a:avLst/>
            </a:prstGeom>
          </p:spPr>
        </p:pic>
        <p:pic>
          <p:nvPicPr>
            <p:cNvPr id="7" name="Imagen 9" descr="Diagrama, Logotipo, nombre de la empresa&#10;&#10;El contenido generado por IA puede ser incorrecto.">
              <a:extLst>
                <a:ext uri="{FF2B5EF4-FFF2-40B4-BE49-F238E27FC236}">
                  <a16:creationId xmlns:a16="http://schemas.microsoft.com/office/drawing/2014/main" id="{F6DCA8BC-CA94-F2BD-2EBF-43A847710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63" r="4098" b="57793"/>
            <a:stretch>
              <a:fillRect/>
            </a:stretch>
          </p:blipFill>
          <p:spPr>
            <a:xfrm>
              <a:off x="6496811" y="2231299"/>
              <a:ext cx="2900657" cy="1197701"/>
            </a:xfrm>
            <a:prstGeom prst="rect">
              <a:avLst/>
            </a:prstGeom>
          </p:spPr>
        </p:pic>
        <p:pic>
          <p:nvPicPr>
            <p:cNvPr id="9" name="Imagen 11" descr="Diagrama&#10;&#10;El contenido generado por IA puede ser incorrecto.">
              <a:extLst>
                <a:ext uri="{FF2B5EF4-FFF2-40B4-BE49-F238E27FC236}">
                  <a16:creationId xmlns:a16="http://schemas.microsoft.com/office/drawing/2014/main" id="{E0A16639-C2FE-119D-6F74-73C840199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8" t="37114" r="27551" b="23884"/>
            <a:stretch>
              <a:fillRect/>
            </a:stretch>
          </p:blipFill>
          <p:spPr>
            <a:xfrm>
              <a:off x="5764175" y="4760443"/>
              <a:ext cx="2448959" cy="11067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784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9B5D-70B1-F267-E963-D65150F6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6D7FA24-7A33-7607-D5F3-6D79815B7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3F5EA0F-2146-63E8-7342-C5AEC43F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3850" cy="946150"/>
          </a:xfrm>
        </p:spPr>
        <p:txBody>
          <a:bodyPr/>
          <a:lstStyle/>
          <a:p>
            <a:r>
              <a:rPr lang="en-US" dirty="0"/>
              <a:t>CHINA: Cyber sphere </a:t>
            </a:r>
            <a:r>
              <a:rPr lang="en-US" dirty="0">
                <a:highlight>
                  <a:srgbClr val="D8512B"/>
                </a:highlight>
              </a:rPr>
              <a:t>historical development </a:t>
            </a:r>
            <a:endParaRPr lang="en-U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7FC7A3-B3BB-A5BB-A49B-A4E22DAD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11" name="Picture 10" descr="A red circle with a yellow star and a black background&#10;&#10;AI-generated content may be incorrect.">
            <a:extLst>
              <a:ext uri="{FF2B5EF4-FFF2-40B4-BE49-F238E27FC236}">
                <a16:creationId xmlns:a16="http://schemas.microsoft.com/office/drawing/2014/main" id="{C2DBDDF2-B8AD-ACDE-C45B-D2B5EBE1B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007"/>
          <a:stretch>
            <a:fillRect/>
          </a:stretch>
        </p:blipFill>
        <p:spPr>
          <a:xfrm>
            <a:off x="1551541" y="2608410"/>
            <a:ext cx="809156" cy="799392"/>
          </a:xfrm>
          <a:prstGeom prst="rect">
            <a:avLst/>
          </a:prstGeom>
        </p:spPr>
      </p:pic>
      <p:pic>
        <p:nvPicPr>
          <p:cNvPr id="13" name="Picture 12" descr="A red circle with a yellow star and a black background&#10;&#10;AI-generated content may be incorrect.">
            <a:extLst>
              <a:ext uri="{FF2B5EF4-FFF2-40B4-BE49-F238E27FC236}">
                <a16:creationId xmlns:a16="http://schemas.microsoft.com/office/drawing/2014/main" id="{A4365D10-8793-722C-25EF-A05C43831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4" r="37503"/>
          <a:stretch>
            <a:fillRect/>
          </a:stretch>
        </p:blipFill>
        <p:spPr>
          <a:xfrm>
            <a:off x="6716159" y="2608410"/>
            <a:ext cx="869117" cy="799392"/>
          </a:xfrm>
          <a:prstGeom prst="rect">
            <a:avLst/>
          </a:prstGeom>
        </p:spPr>
      </p:pic>
      <p:pic>
        <p:nvPicPr>
          <p:cNvPr id="14" name="Picture 13" descr="A red circle with a yellow star and a black background&#10;&#10;AI-generated content may be incorrect.">
            <a:extLst>
              <a:ext uri="{FF2B5EF4-FFF2-40B4-BE49-F238E27FC236}">
                <a16:creationId xmlns:a16="http://schemas.microsoft.com/office/drawing/2014/main" id="{94CA27D6-8752-08F8-469E-88FB1FFCC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9" r="-1752"/>
          <a:stretch>
            <a:fillRect/>
          </a:stretch>
        </p:blipFill>
        <p:spPr>
          <a:xfrm>
            <a:off x="8995326" y="2608410"/>
            <a:ext cx="869117" cy="79939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4CDA84D-6B7C-96EB-C31D-DAAD680FF536}"/>
              </a:ext>
            </a:extLst>
          </p:cNvPr>
          <p:cNvGrpSpPr/>
          <p:nvPr/>
        </p:nvGrpSpPr>
        <p:grpSpPr>
          <a:xfrm>
            <a:off x="3819265" y="2608410"/>
            <a:ext cx="799392" cy="799392"/>
            <a:chOff x="2943423" y="2562298"/>
            <a:chExt cx="799392" cy="79939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38CA18E-54F5-1B9B-01FD-0FBC559B5B28}"/>
                </a:ext>
              </a:extLst>
            </p:cNvPr>
            <p:cNvSpPr/>
            <p:nvPr/>
          </p:nvSpPr>
          <p:spPr>
            <a:xfrm>
              <a:off x="2943423" y="2562298"/>
              <a:ext cx="799392" cy="799392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9" name="Picture 18" descr="A white and black logo&#10;&#10;AI-generated content may be incorrect.">
              <a:extLst>
                <a:ext uri="{FF2B5EF4-FFF2-40B4-BE49-F238E27FC236}">
                  <a16:creationId xmlns:a16="http://schemas.microsoft.com/office/drawing/2014/main" id="{7C8CB211-0DC9-AC05-A781-B1D00064B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2704" y="2641579"/>
              <a:ext cx="640830" cy="64083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2C7D10-CAEE-D19A-DBD7-3D1C087187B4}"/>
              </a:ext>
            </a:extLst>
          </p:cNvPr>
          <p:cNvSpPr txBox="1"/>
          <p:nvPr/>
        </p:nvSpPr>
        <p:spPr>
          <a:xfrm>
            <a:off x="1444633" y="4145725"/>
            <a:ext cx="141888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China accesses internet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09B63E-DC3A-50B0-4E27-576381D4E0D0}"/>
              </a:ext>
            </a:extLst>
          </p:cNvPr>
          <p:cNvSpPr txBox="1"/>
          <p:nvPr/>
        </p:nvSpPr>
        <p:spPr>
          <a:xfrm>
            <a:off x="3770747" y="4145725"/>
            <a:ext cx="141888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Creation of Red Hacker groups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6E520A-B04F-7379-A9D5-67AAB40EAA81}"/>
              </a:ext>
            </a:extLst>
          </p:cNvPr>
          <p:cNvSpPr txBox="1"/>
          <p:nvPr/>
        </p:nvSpPr>
        <p:spPr>
          <a:xfrm>
            <a:off x="6716159" y="4145725"/>
            <a:ext cx="141888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 starts recruiting hackers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772F37-7AE4-116C-2BA9-C867E837244A}"/>
              </a:ext>
            </a:extLst>
          </p:cNvPr>
          <p:cNvSpPr txBox="1"/>
          <p:nvPr/>
        </p:nvSpPr>
        <p:spPr>
          <a:xfrm>
            <a:off x="9003776" y="4145725"/>
            <a:ext cx="174687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60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MSS takeover recruiting of hackers</a:t>
            </a:r>
            <a:endParaRPr lang="en-GB" sz="16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54A280-87AD-3B63-8E87-31A03EA10A2F}"/>
              </a:ext>
            </a:extLst>
          </p:cNvPr>
          <p:cNvSpPr txBox="1"/>
          <p:nvPr/>
        </p:nvSpPr>
        <p:spPr>
          <a:xfrm>
            <a:off x="1444633" y="3635557"/>
            <a:ext cx="219988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2800" b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1994</a:t>
            </a:r>
            <a:endParaRPr lang="en-GB" sz="2800" b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379285-44EA-7FDE-2992-067F191FEEBA}"/>
              </a:ext>
            </a:extLst>
          </p:cNvPr>
          <p:cNvSpPr txBox="1"/>
          <p:nvPr/>
        </p:nvSpPr>
        <p:spPr>
          <a:xfrm>
            <a:off x="3770747" y="3635557"/>
            <a:ext cx="219988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2800" b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1997-2010</a:t>
            </a:r>
            <a:endParaRPr lang="en-GB" sz="2800" b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887037-1082-C518-7115-28F19F390E19}"/>
              </a:ext>
            </a:extLst>
          </p:cNvPr>
          <p:cNvSpPr txBox="1"/>
          <p:nvPr/>
        </p:nvSpPr>
        <p:spPr>
          <a:xfrm>
            <a:off x="6716159" y="3635557"/>
            <a:ext cx="219988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2800" b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2003</a:t>
            </a:r>
            <a:endParaRPr lang="en-GB" sz="2800" b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F42B2D-8190-74AA-D794-BC6E7D5005FE}"/>
              </a:ext>
            </a:extLst>
          </p:cNvPr>
          <p:cNvSpPr txBox="1"/>
          <p:nvPr/>
        </p:nvSpPr>
        <p:spPr>
          <a:xfrm>
            <a:off x="9003776" y="3635557"/>
            <a:ext cx="13493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2800" b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2010s</a:t>
            </a:r>
            <a:endParaRPr lang="en-GB" sz="2800" b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687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EFA610D-E7AC-8997-9094-ECD09A99A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F17DD99-795F-F98A-7594-1C9C9A673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2157" cy="955675"/>
          </a:xfrm>
        </p:spPr>
        <p:txBody>
          <a:bodyPr>
            <a:normAutofit/>
          </a:bodyPr>
          <a:lstStyle/>
          <a:p>
            <a:r>
              <a:rPr lang="en-US" dirty="0"/>
              <a:t>CHINA: </a:t>
            </a:r>
            <a:r>
              <a:rPr lang="en-US" dirty="0">
                <a:highlight>
                  <a:srgbClr val="D8512B"/>
                </a:highlight>
              </a:rPr>
              <a:t>From patriotic hackers</a:t>
            </a:r>
            <a:r>
              <a:rPr lang="en-US" dirty="0"/>
              <a:t> to state contractors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D50DAB-100A-2CAF-9041-02FA1BA5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5849AC-4478-75C0-B0D4-ECE7561F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15" y="1894395"/>
            <a:ext cx="953671" cy="9536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BC6D053-D176-130F-50AE-E0C875F87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15" y="3232865"/>
            <a:ext cx="953671" cy="9536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DD048BB-F873-657C-DE86-1E43F48CB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15" y="4571336"/>
            <a:ext cx="953671" cy="9536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2DB4E4-D677-5989-323B-E028DF202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641" y="1894398"/>
            <a:ext cx="953671" cy="9536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E0EDBA2-DD98-D449-48B8-4DB22FABCE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641" y="3232866"/>
            <a:ext cx="953671" cy="9536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0B87B58-34E6-02A8-D54F-812FB4AC8B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641" y="4571336"/>
            <a:ext cx="953671" cy="953671"/>
          </a:xfrm>
          <a:prstGeom prst="rect">
            <a:avLst/>
          </a:prstGeom>
        </p:spPr>
      </p:pic>
      <p:pic>
        <p:nvPicPr>
          <p:cNvPr id="31" name="Picture 30" descr="A white outline of hands in handcuffs&#10;&#10;AI-generated content may be incorrect.">
            <a:extLst>
              <a:ext uri="{FF2B5EF4-FFF2-40B4-BE49-F238E27FC236}">
                <a16:creationId xmlns:a16="http://schemas.microsoft.com/office/drawing/2014/main" id="{1E88B8D8-E994-8DC7-4A12-3273F8A563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337" y="4571336"/>
            <a:ext cx="953671" cy="95367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8B6CF56-EB5B-7788-BC54-1BD24A4746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86" y="4571336"/>
            <a:ext cx="953671" cy="95367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C80B2FC-3B5E-E5D2-D1E9-21243CF5EC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10" y="4571336"/>
            <a:ext cx="953671" cy="953671"/>
          </a:xfrm>
          <a:prstGeom prst="rect">
            <a:avLst/>
          </a:prstGeom>
        </p:spPr>
      </p:pic>
      <p:sp>
        <p:nvSpPr>
          <p:cNvPr id="37" name="Flecha derecha 7">
            <a:extLst>
              <a:ext uri="{FF2B5EF4-FFF2-40B4-BE49-F238E27FC236}">
                <a16:creationId xmlns:a16="http://schemas.microsoft.com/office/drawing/2014/main" id="{91C378BB-9E82-1CC0-9EAC-60C3A8EDAC27}"/>
              </a:ext>
            </a:extLst>
          </p:cNvPr>
          <p:cNvSpPr/>
          <p:nvPr/>
        </p:nvSpPr>
        <p:spPr>
          <a:xfrm>
            <a:off x="2111396" y="5018985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echa derecha 7">
            <a:extLst>
              <a:ext uri="{FF2B5EF4-FFF2-40B4-BE49-F238E27FC236}">
                <a16:creationId xmlns:a16="http://schemas.microsoft.com/office/drawing/2014/main" id="{606B7ED7-0E4C-DB47-BFA3-FE41B8B450B8}"/>
              </a:ext>
            </a:extLst>
          </p:cNvPr>
          <p:cNvSpPr/>
          <p:nvPr/>
        </p:nvSpPr>
        <p:spPr>
          <a:xfrm>
            <a:off x="7430591" y="5018985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echa derecha 7">
            <a:extLst>
              <a:ext uri="{FF2B5EF4-FFF2-40B4-BE49-F238E27FC236}">
                <a16:creationId xmlns:a16="http://schemas.microsoft.com/office/drawing/2014/main" id="{5CA9C26D-377E-280E-B563-6030A3978006}"/>
              </a:ext>
            </a:extLst>
          </p:cNvPr>
          <p:cNvSpPr/>
          <p:nvPr/>
        </p:nvSpPr>
        <p:spPr>
          <a:xfrm>
            <a:off x="5866231" y="5018985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echa derecha 7">
            <a:extLst>
              <a:ext uri="{FF2B5EF4-FFF2-40B4-BE49-F238E27FC236}">
                <a16:creationId xmlns:a16="http://schemas.microsoft.com/office/drawing/2014/main" id="{195AA286-0855-DF99-0B73-08E21E5311CC}"/>
              </a:ext>
            </a:extLst>
          </p:cNvPr>
          <p:cNvSpPr/>
          <p:nvPr/>
        </p:nvSpPr>
        <p:spPr>
          <a:xfrm>
            <a:off x="8874388" y="5018985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echa derecha 7">
            <a:extLst>
              <a:ext uri="{FF2B5EF4-FFF2-40B4-BE49-F238E27FC236}">
                <a16:creationId xmlns:a16="http://schemas.microsoft.com/office/drawing/2014/main" id="{12BE31DA-A369-9858-658C-1B5D5CB8DF4F}"/>
              </a:ext>
            </a:extLst>
          </p:cNvPr>
          <p:cNvSpPr/>
          <p:nvPr/>
        </p:nvSpPr>
        <p:spPr>
          <a:xfrm>
            <a:off x="2111396" y="3630132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echa derecha 7">
            <a:extLst>
              <a:ext uri="{FF2B5EF4-FFF2-40B4-BE49-F238E27FC236}">
                <a16:creationId xmlns:a16="http://schemas.microsoft.com/office/drawing/2014/main" id="{4DE7EB98-D774-3015-1146-04D928FE784D}"/>
              </a:ext>
            </a:extLst>
          </p:cNvPr>
          <p:cNvSpPr/>
          <p:nvPr/>
        </p:nvSpPr>
        <p:spPr>
          <a:xfrm>
            <a:off x="2111396" y="2327543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110AE7-0F5E-DD41-E551-2327EB452850}"/>
              </a:ext>
            </a:extLst>
          </p:cNvPr>
          <p:cNvSpPr txBox="1"/>
          <p:nvPr/>
        </p:nvSpPr>
        <p:spPr>
          <a:xfrm>
            <a:off x="939215" y="5624920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Tan Dailin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AC89EA-7554-3A40-5050-3027784629D8}"/>
              </a:ext>
            </a:extLst>
          </p:cNvPr>
          <p:cNvSpPr txBox="1"/>
          <p:nvPr/>
        </p:nvSpPr>
        <p:spPr>
          <a:xfrm>
            <a:off x="939215" y="4296452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Cai Jingjing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C7469C-425A-A1EB-76E6-28574DD39569}"/>
              </a:ext>
            </a:extLst>
          </p:cNvPr>
          <p:cNvSpPr txBox="1"/>
          <p:nvPr/>
        </p:nvSpPr>
        <p:spPr>
          <a:xfrm>
            <a:off x="939215" y="2942105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Wu </a:t>
            </a:r>
            <a:r>
              <a:rPr lang="en-GB" sz="1000" err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Haibo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47" name="Flecha derecha 7">
            <a:extLst>
              <a:ext uri="{FF2B5EF4-FFF2-40B4-BE49-F238E27FC236}">
                <a16:creationId xmlns:a16="http://schemas.microsoft.com/office/drawing/2014/main" id="{1CD5FC08-2A4D-D046-9180-1B42BB127201}"/>
              </a:ext>
            </a:extLst>
          </p:cNvPr>
          <p:cNvSpPr/>
          <p:nvPr/>
        </p:nvSpPr>
        <p:spPr>
          <a:xfrm>
            <a:off x="4238625" y="3630132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echa derecha 7">
            <a:extLst>
              <a:ext uri="{FF2B5EF4-FFF2-40B4-BE49-F238E27FC236}">
                <a16:creationId xmlns:a16="http://schemas.microsoft.com/office/drawing/2014/main" id="{412FB5E5-FE69-0334-1C37-16CBD25FE059}"/>
              </a:ext>
            </a:extLst>
          </p:cNvPr>
          <p:cNvSpPr/>
          <p:nvPr/>
        </p:nvSpPr>
        <p:spPr>
          <a:xfrm>
            <a:off x="4238625" y="2327543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white and black logo&#10;&#10;AI-generated content may be incorrect.">
            <a:extLst>
              <a:ext uri="{FF2B5EF4-FFF2-40B4-BE49-F238E27FC236}">
                <a16:creationId xmlns:a16="http://schemas.microsoft.com/office/drawing/2014/main" id="{20A6FA44-9605-DCF7-C72E-F847D0B038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49" y="2050815"/>
            <a:ext cx="640830" cy="640830"/>
          </a:xfrm>
          <a:prstGeom prst="rect">
            <a:avLst/>
          </a:prstGeom>
        </p:spPr>
      </p:pic>
      <p:pic>
        <p:nvPicPr>
          <p:cNvPr id="50" name="Picture 49" descr="A white and black logo&#10;&#10;AI-generated content may be incorrect.">
            <a:extLst>
              <a:ext uri="{FF2B5EF4-FFF2-40B4-BE49-F238E27FC236}">
                <a16:creationId xmlns:a16="http://schemas.microsoft.com/office/drawing/2014/main" id="{15DE934F-49BF-F422-A8A6-E706615C24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49" y="3437067"/>
            <a:ext cx="640830" cy="64083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B5C7EAC-C5D9-7D45-682C-8D8C7EFF10AE}"/>
              </a:ext>
            </a:extLst>
          </p:cNvPr>
          <p:cNvSpPr txBox="1"/>
          <p:nvPr/>
        </p:nvSpPr>
        <p:spPr>
          <a:xfrm>
            <a:off x="4725641" y="5624920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PLA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A9F5E9-C29A-DBE0-90EB-51B2C8C1E4FA}"/>
              </a:ext>
            </a:extLst>
          </p:cNvPr>
          <p:cNvSpPr txBox="1"/>
          <p:nvPr/>
        </p:nvSpPr>
        <p:spPr>
          <a:xfrm>
            <a:off x="2646566" y="4296452"/>
            <a:ext cx="15659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Member of Green Army, </a:t>
            </a:r>
            <a:r>
              <a:rPr lang="en-GB" sz="1000" err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Xfocus</a:t>
            </a: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, 0x557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23C677-EA73-1465-ABFC-2D49EE708701}"/>
              </a:ext>
            </a:extLst>
          </p:cNvPr>
          <p:cNvSpPr txBox="1"/>
          <p:nvPr/>
        </p:nvSpPr>
        <p:spPr>
          <a:xfrm>
            <a:off x="2646566" y="2942105"/>
            <a:ext cx="15659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Member of the Green Army  and 0x557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97F747-67BD-830A-31B5-8D7AE84B77F6}"/>
              </a:ext>
            </a:extLst>
          </p:cNvPr>
          <p:cNvSpPr txBox="1"/>
          <p:nvPr/>
        </p:nvSpPr>
        <p:spPr>
          <a:xfrm>
            <a:off x="6328337" y="5624920"/>
            <a:ext cx="95367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Arrested by the MPS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551B01-7B63-0E5B-A58D-1C00574526E0}"/>
              </a:ext>
            </a:extLst>
          </p:cNvPr>
          <p:cNvSpPr txBox="1"/>
          <p:nvPr/>
        </p:nvSpPr>
        <p:spPr>
          <a:xfrm>
            <a:off x="4725641" y="4296452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Integrity Tech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FFFF2B-4DDD-FEB2-162A-3D1BB9A43E88}"/>
              </a:ext>
            </a:extLst>
          </p:cNvPr>
          <p:cNvSpPr txBox="1"/>
          <p:nvPr/>
        </p:nvSpPr>
        <p:spPr>
          <a:xfrm>
            <a:off x="4725641" y="2942105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I-Soon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12AC47-9E8C-ABCC-DAFA-DD04816BABE7}"/>
              </a:ext>
            </a:extLst>
          </p:cNvPr>
          <p:cNvSpPr txBox="1"/>
          <p:nvPr/>
        </p:nvSpPr>
        <p:spPr>
          <a:xfrm>
            <a:off x="7795086" y="5624920"/>
            <a:ext cx="95367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MSS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2B593B-85D2-92D6-D27A-5B777D85B853}"/>
              </a:ext>
            </a:extLst>
          </p:cNvPr>
          <p:cNvSpPr txBox="1"/>
          <p:nvPr/>
        </p:nvSpPr>
        <p:spPr>
          <a:xfrm>
            <a:off x="9089621" y="5588335"/>
            <a:ext cx="150504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Founder of cybersecurity firms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pic>
        <p:nvPicPr>
          <p:cNvPr id="59" name="Picture 58" descr="A white and black logo&#10;&#10;AI-generated content may be incorrect.">
            <a:extLst>
              <a:ext uri="{FF2B5EF4-FFF2-40B4-BE49-F238E27FC236}">
                <a16:creationId xmlns:a16="http://schemas.microsoft.com/office/drawing/2014/main" id="{764D8F50-80C6-904B-CB16-DD13E0E651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149" y="4782788"/>
            <a:ext cx="640830" cy="64083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BFFD44E-1921-4B32-12B7-246F3DA30D85}"/>
              </a:ext>
            </a:extLst>
          </p:cNvPr>
          <p:cNvSpPr txBox="1"/>
          <p:nvPr/>
        </p:nvSpPr>
        <p:spPr>
          <a:xfrm>
            <a:off x="2646566" y="5642173"/>
            <a:ext cx="15659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Founder of NCPH</a:t>
            </a:r>
          </a:p>
          <a:p>
            <a:pPr algn="ctr">
              <a:buClr>
                <a:schemeClr val="accent1"/>
              </a:buClr>
            </a:pPr>
            <a:r>
              <a:rPr lang="en-GB" sz="100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 Hacking Group</a:t>
            </a:r>
            <a:endParaRPr lang="en-GB" sz="100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61" name="Flecha derecha 7">
            <a:extLst>
              <a:ext uri="{FF2B5EF4-FFF2-40B4-BE49-F238E27FC236}">
                <a16:creationId xmlns:a16="http://schemas.microsoft.com/office/drawing/2014/main" id="{A57C7CFE-571A-DD70-AA48-FBAFCEA681B9}"/>
              </a:ext>
            </a:extLst>
          </p:cNvPr>
          <p:cNvSpPr/>
          <p:nvPr/>
        </p:nvSpPr>
        <p:spPr>
          <a:xfrm>
            <a:off x="4238625" y="5027611"/>
            <a:ext cx="348192" cy="154430"/>
          </a:xfrm>
          <a:prstGeom prst="rightArrow">
            <a:avLst>
              <a:gd name="adj1" fmla="val 29578"/>
              <a:gd name="adj2" fmla="val 55909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58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70AB-AC8D-64B0-BF0D-811CB2769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653EC01-F8FA-8422-841A-12AA48F2D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FF749D-C034-2626-A147-DBA67C23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7"/>
            <a:ext cx="8561387" cy="941390"/>
          </a:xfrm>
        </p:spPr>
        <p:txBody>
          <a:bodyPr>
            <a:normAutofit/>
          </a:bodyPr>
          <a:lstStyle/>
          <a:p>
            <a:pPr>
              <a:spcAft>
                <a:spcPts val="100"/>
              </a:spcAft>
            </a:pPr>
            <a:r>
              <a:rPr lang="en-US" dirty="0"/>
              <a:t>CHINA: </a:t>
            </a:r>
            <a:r>
              <a:rPr lang="en-US" dirty="0">
                <a:highlight>
                  <a:srgbClr val="D8512B"/>
                </a:highlight>
              </a:rPr>
              <a:t>Institutional architecture</a:t>
            </a:r>
            <a:r>
              <a:rPr lang="en-US" dirty="0"/>
              <a:t> of state cyber capabilities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B83BFC-B3C2-4829-0796-FF338334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15" name="Picture 14" descr="A diagram of a government&#10;&#10;AI-generated content may be incorrect.">
            <a:extLst>
              <a:ext uri="{FF2B5EF4-FFF2-40B4-BE49-F238E27FC236}">
                <a16:creationId xmlns:a16="http://schemas.microsoft.com/office/drawing/2014/main" id="{7620C0BD-3FFC-F852-6EEC-25B09DEF5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287" y="1828800"/>
            <a:ext cx="7161401" cy="417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07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4A7A98F-B6DF-CDD8-B3F4-5B3271ED3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1132B23-9D0D-02D3-CE68-6F5B5760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055" y="754063"/>
            <a:ext cx="10453583" cy="946150"/>
          </a:xfrm>
        </p:spPr>
        <p:txBody>
          <a:bodyPr/>
          <a:lstStyle/>
          <a:p>
            <a:r>
              <a:rPr lang="en-US"/>
              <a:t>CHINA: The </a:t>
            </a:r>
            <a:r>
              <a:rPr lang="en-US">
                <a:highlight>
                  <a:srgbClr val="D8512B"/>
                </a:highlight>
              </a:rPr>
              <a:t>outsourcing ecosystem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44498B-DAF8-01A1-DF29-5D4DDC95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028BA-2F80-DC46-3E76-687ADCD5243B}"/>
              </a:ext>
            </a:extLst>
          </p:cNvPr>
          <p:cNvSpPr txBox="1"/>
          <p:nvPr/>
        </p:nvSpPr>
        <p:spPr>
          <a:xfrm>
            <a:off x="870054" y="2336801"/>
            <a:ext cx="3368571" cy="2585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2000" b="1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Key Characteristics: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Comprehensive national strategy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Public bids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IT leaders and SMEs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Subcontracting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Competitive environment 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Links based guanxi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ü"/>
            </a:pPr>
            <a:r>
              <a:rPr lang="en-GB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High degree of autonomy</a:t>
            </a:r>
            <a:endParaRPr lang="en-GB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3" name="Picture 12" descr="A stack of purple and white squares&#10;&#10;AI-generated content may be incorrect.">
            <a:extLst>
              <a:ext uri="{FF2B5EF4-FFF2-40B4-BE49-F238E27FC236}">
                <a16:creationId xmlns:a16="http://schemas.microsoft.com/office/drawing/2014/main" id="{92BA5E78-FC1A-11D2-267F-F1AC4C5B7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" t="16280" r="61874" b="14839"/>
          <a:stretch>
            <a:fillRect/>
          </a:stretch>
        </p:blipFill>
        <p:spPr>
          <a:xfrm>
            <a:off x="4525963" y="2015593"/>
            <a:ext cx="2027237" cy="30114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16DD32-EF3E-A794-E011-57B10C74ED57}"/>
              </a:ext>
            </a:extLst>
          </p:cNvPr>
          <p:cNvSpPr txBox="1"/>
          <p:nvPr/>
        </p:nvSpPr>
        <p:spPr>
          <a:xfrm>
            <a:off x="6688667" y="2528283"/>
            <a:ext cx="470746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Qihoo 360, Beijing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Topsec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, Integrity Technology Group</a:t>
            </a:r>
            <a:endParaRPr lang="en-GB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DAE9A0-7030-3864-8AEF-FBB74B7895B0}"/>
              </a:ext>
            </a:extLst>
          </p:cNvPr>
          <p:cNvSpPr txBox="1"/>
          <p:nvPr/>
        </p:nvSpPr>
        <p:spPr>
          <a:xfrm>
            <a:off x="6688667" y="2926146"/>
            <a:ext cx="470746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Tsinghua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Tongfang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Co, Shanghai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Firetech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, Shanghai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Powerock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en-GB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1FEF06-D975-F73D-FD5E-125FB03F53FE}"/>
              </a:ext>
            </a:extLst>
          </p:cNvPr>
          <p:cNvSpPr txBox="1"/>
          <p:nvPr/>
        </p:nvSpPr>
        <p:spPr>
          <a:xfrm>
            <a:off x="6688667" y="3324009"/>
            <a:ext cx="470746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I-Soon,  Chengdu404,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NSFocus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QiAnXin</a:t>
            </a:r>
            <a:endParaRPr lang="en-GB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0077FB-634A-12E5-3B3F-48067467CECE}"/>
              </a:ext>
            </a:extLst>
          </p:cNvPr>
          <p:cNvSpPr txBox="1"/>
          <p:nvPr/>
        </p:nvSpPr>
        <p:spPr>
          <a:xfrm>
            <a:off x="6688667" y="3721872"/>
            <a:ext cx="470746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Sichuan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Juxinhe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Network Technology Co,  Sichuan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Zhixin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Ruijie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Network Technology Co</a:t>
            </a:r>
            <a:endParaRPr lang="en-GB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AB548-5FBF-D6CE-E627-E1FC5C82E2A4}"/>
              </a:ext>
            </a:extLst>
          </p:cNvPr>
          <p:cNvSpPr txBox="1"/>
          <p:nvPr/>
        </p:nvSpPr>
        <p:spPr>
          <a:xfrm>
            <a:off x="6688667" y="4304401"/>
            <a:ext cx="470746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chemeClr val="accent1"/>
              </a:buClr>
            </a:pP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Beijing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Huanyu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Tiangiong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Information Technology Co, Shanghai </a:t>
            </a:r>
            <a:r>
              <a:rPr lang="en-GB" sz="1200" dirty="0" err="1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Heiying</a:t>
            </a:r>
            <a:r>
              <a:rPr lang="en-GB" sz="12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 Information Technology Co</a:t>
            </a:r>
            <a:endParaRPr lang="en-GB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305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1037EDF-0CB7-1012-F4E9-01DF1470F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141BAEB-BEDF-923A-5F5E-9DA6E7CA2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3850" cy="946150"/>
          </a:xfrm>
        </p:spPr>
        <p:txBody>
          <a:bodyPr/>
          <a:lstStyle/>
          <a:p>
            <a:r>
              <a:rPr lang="en-US"/>
              <a:t>CHINA: Proxy </a:t>
            </a:r>
            <a:r>
              <a:rPr lang="en-US">
                <a:highlight>
                  <a:srgbClr val="D8512B"/>
                </a:highlight>
              </a:rPr>
              <a:t>services offering</a:t>
            </a:r>
          </a:p>
        </p:txBody>
      </p:sp>
      <p:pic>
        <p:nvPicPr>
          <p:cNvPr id="8" name="Marcador de contenido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21C5706-46E1-811E-8297-1DE576BE3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3" b="41242"/>
          <a:stretch>
            <a:fillRect/>
          </a:stretch>
        </p:blipFill>
        <p:spPr>
          <a:xfrm>
            <a:off x="860748" y="2264263"/>
            <a:ext cx="10470503" cy="1929149"/>
          </a:xfrm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7EA637-D4E8-A1EF-9296-7E4C4FC0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21B66-8039-EBFA-70C7-9377140FF325}"/>
              </a:ext>
            </a:extLst>
          </p:cNvPr>
          <p:cNvSpPr txBox="1"/>
          <p:nvPr/>
        </p:nvSpPr>
        <p:spPr>
          <a:xfrm>
            <a:off x="930367" y="4336100"/>
            <a:ext cx="13514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Vulnerability Identification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FD507-4277-AAC5-9648-CF791ADC5D04}"/>
              </a:ext>
            </a:extLst>
          </p:cNvPr>
          <p:cNvSpPr txBox="1"/>
          <p:nvPr/>
        </p:nvSpPr>
        <p:spPr>
          <a:xfrm>
            <a:off x="3045204" y="4336100"/>
            <a:ext cx="158551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 dirty="0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Hacking-for-hire</a:t>
            </a:r>
            <a:endParaRPr lang="en-GB" sz="1400" b="1" dirty="0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CAF7E-E68E-1518-221A-A54A13592738}"/>
              </a:ext>
            </a:extLst>
          </p:cNvPr>
          <p:cNvSpPr txBox="1"/>
          <p:nvPr/>
        </p:nvSpPr>
        <p:spPr>
          <a:xfrm>
            <a:off x="5426866" y="4336100"/>
            <a:ext cx="15024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Tools &amp; Solutions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81BEE-CC13-CEBD-3510-7132CD241D8D}"/>
              </a:ext>
            </a:extLst>
          </p:cNvPr>
          <p:cNvSpPr txBox="1"/>
          <p:nvPr/>
        </p:nvSpPr>
        <p:spPr>
          <a:xfrm>
            <a:off x="7742228" y="4336100"/>
            <a:ext cx="13514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Recruiting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A2FC5E-9925-CDD0-9B05-50446DD76C4C}"/>
              </a:ext>
            </a:extLst>
          </p:cNvPr>
          <p:cNvSpPr txBox="1"/>
          <p:nvPr/>
        </p:nvSpPr>
        <p:spPr>
          <a:xfrm>
            <a:off x="10099535" y="4336100"/>
            <a:ext cx="13514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Information</a:t>
            </a:r>
            <a:b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</a:br>
            <a:r>
              <a:rPr lang="en-GB" sz="1400" b="1">
                <a:solidFill>
                  <a:srgbClr val="FFFFFF"/>
                </a:solidFill>
                <a:effectLst/>
                <a:latin typeface="Inter SemiBold" panose="02000503000000020004" pitchFamily="2" charset="0"/>
                <a:ea typeface="Inter SemiBold" panose="02000503000000020004" pitchFamily="2" charset="0"/>
              </a:rPr>
              <a:t>Operation</a:t>
            </a:r>
            <a:endParaRPr lang="en-GB" sz="1400" b="1"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67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18A159B-382B-F141-90FE-ECE838D7D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CCB697E-647A-1E7C-5672-740981BE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54063"/>
            <a:ext cx="10483850" cy="946150"/>
          </a:xfrm>
        </p:spPr>
        <p:txBody>
          <a:bodyPr/>
          <a:lstStyle/>
          <a:p>
            <a:r>
              <a:rPr lang="en-US"/>
              <a:t>CHINA: Outsourcing </a:t>
            </a:r>
            <a:r>
              <a:rPr lang="en-US">
                <a:highlight>
                  <a:srgbClr val="D8512B"/>
                </a:highlight>
              </a:rPr>
              <a:t>risk-benefit calculus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3D3D3C-3EF9-75EA-6172-71A619DF1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E05E1-DD42-7C26-C01A-71B903F43CA0}"/>
              </a:ext>
            </a:extLst>
          </p:cNvPr>
          <p:cNvSpPr txBox="1"/>
          <p:nvPr/>
        </p:nvSpPr>
        <p:spPr>
          <a:xfrm>
            <a:off x="2697605" y="3326952"/>
            <a:ext cx="311061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Companies or employees re-selling data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Corruption and bid rigging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Risky </a:t>
            </a:r>
            <a:r>
              <a:rPr lang="en-GB" sz="1600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behavior</a:t>
            </a:r>
            <a:endParaRPr lang="en-GB" sz="16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BA556-DF3E-FD55-FEEB-AD74765F05CD}"/>
              </a:ext>
            </a:extLst>
          </p:cNvPr>
          <p:cNvSpPr txBox="1"/>
          <p:nvPr/>
        </p:nvSpPr>
        <p:spPr>
          <a:xfrm>
            <a:off x="6772893" y="3146577"/>
            <a:ext cx="3413122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Reduced costs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Flexibility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</a:rPr>
              <a:t>Efficiency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Innovation</a:t>
            </a:r>
          </a:p>
          <a:p>
            <a:pPr marL="285750" indent="-285750">
              <a:buClr>
                <a:schemeClr val="accent1"/>
              </a:buClr>
              <a:buFont typeface="Wingdings" pitchFamily="2" charset="2"/>
              <a:buChar char="§"/>
            </a:pPr>
            <a:r>
              <a:rPr lang="en-GB" sz="1600" strike="sngStrike" dirty="0">
                <a:solidFill>
                  <a:srgbClr val="FFFFFF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Plausible deniability</a:t>
            </a:r>
          </a:p>
        </p:txBody>
      </p:sp>
      <p:sp>
        <p:nvSpPr>
          <p:cNvPr id="8" name="Título 2">
            <a:extLst>
              <a:ext uri="{FF2B5EF4-FFF2-40B4-BE49-F238E27FC236}">
                <a16:creationId xmlns:a16="http://schemas.microsoft.com/office/drawing/2014/main" id="{F00C483E-3FBE-45BC-9159-66AF3D25F7DA}"/>
              </a:ext>
            </a:extLst>
          </p:cNvPr>
          <p:cNvSpPr txBox="1">
            <a:spLocks/>
          </p:cNvSpPr>
          <p:nvPr/>
        </p:nvSpPr>
        <p:spPr>
          <a:xfrm>
            <a:off x="2601297" y="2557851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 sz="2200"/>
              <a:t>RISKS</a:t>
            </a:r>
            <a:endParaRPr lang="en-US" sz="2200">
              <a:highlight>
                <a:srgbClr val="D8512B"/>
              </a:highlight>
            </a:endParaRPr>
          </a:p>
        </p:txBody>
      </p:sp>
      <p:sp>
        <p:nvSpPr>
          <p:cNvPr id="9" name="Título 2">
            <a:extLst>
              <a:ext uri="{FF2B5EF4-FFF2-40B4-BE49-F238E27FC236}">
                <a16:creationId xmlns:a16="http://schemas.microsoft.com/office/drawing/2014/main" id="{D8E3649E-330C-7778-8405-0EAE635F41E6}"/>
              </a:ext>
            </a:extLst>
          </p:cNvPr>
          <p:cNvSpPr txBox="1">
            <a:spLocks/>
          </p:cNvSpPr>
          <p:nvPr/>
        </p:nvSpPr>
        <p:spPr>
          <a:xfrm>
            <a:off x="6772893" y="2557851"/>
            <a:ext cx="2759446" cy="608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r>
              <a:rPr lang="en-US" sz="2200"/>
              <a:t>BENEFITS</a:t>
            </a:r>
            <a:endParaRPr lang="en-US" sz="2200">
              <a:highlight>
                <a:srgbClr val="D8512B"/>
              </a:highlight>
            </a:endParaRPr>
          </a:p>
        </p:txBody>
      </p:sp>
      <p:pic>
        <p:nvPicPr>
          <p:cNvPr id="10" name="Picture 9" descr="A white line drawing of a symbol&#10;&#10;AI-generated content may be incorrect.">
            <a:extLst>
              <a:ext uri="{FF2B5EF4-FFF2-40B4-BE49-F238E27FC236}">
                <a16:creationId xmlns:a16="http://schemas.microsoft.com/office/drawing/2014/main" id="{C4A3B7F5-4BF9-BCD2-A569-397F47033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716" y="4472926"/>
            <a:ext cx="4152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9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14F4BBE-BBCB-BBE5-02BC-697EB06C7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734486E-9522-5279-7614-4C62817A0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44538"/>
            <a:ext cx="10483850" cy="946150"/>
          </a:xfrm>
        </p:spPr>
        <p:txBody>
          <a:bodyPr/>
          <a:lstStyle/>
          <a:p>
            <a:r>
              <a:rPr lang="en-US" dirty="0"/>
              <a:t>CHINA: </a:t>
            </a:r>
            <a:r>
              <a:rPr lang="en-US" dirty="0">
                <a:highlight>
                  <a:srgbClr val="D8512B"/>
                </a:highlight>
              </a:rPr>
              <a:t>Vulnerability identification</a:t>
            </a:r>
            <a:br>
              <a:rPr lang="en-US" dirty="0">
                <a:highlight>
                  <a:srgbClr val="D8512B"/>
                </a:highlight>
              </a:rPr>
            </a:br>
            <a:r>
              <a:rPr lang="en-US" dirty="0">
                <a:highlight>
                  <a:srgbClr val="D8512B"/>
                </a:highlight>
              </a:rPr>
              <a:t>and exploitation</a:t>
            </a:r>
            <a:r>
              <a:rPr lang="en-US" dirty="0"/>
              <a:t> strategy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8AD11F-75E2-D372-4BB6-FB7D8EBF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pic>
        <p:nvPicPr>
          <p:cNvPr id="12" name="Marcador de contenido 11" descr="Diagrama&#10;&#10;El contenido generado por IA puede ser incorrecto.">
            <a:extLst>
              <a:ext uri="{FF2B5EF4-FFF2-40B4-BE49-F238E27FC236}">
                <a16:creationId xmlns:a16="http://schemas.microsoft.com/office/drawing/2014/main" id="{0101ABD2-122B-142E-D070-06D62D9FB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2" t="3222" r="12551"/>
          <a:stretch>
            <a:fillRect/>
          </a:stretch>
        </p:blipFill>
        <p:spPr>
          <a:xfrm>
            <a:off x="5201174" y="1294678"/>
            <a:ext cx="6234928" cy="4589935"/>
          </a:xfrm>
        </p:spPr>
      </p:pic>
    </p:spTree>
    <p:extLst>
      <p:ext uri="{BB962C8B-B14F-4D97-AF65-F5344CB8AC3E}">
        <p14:creationId xmlns:p14="http://schemas.microsoft.com/office/powerpoint/2010/main" val="2333224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63703-B7A9-6E10-2796-F94D8D79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934C520-CA3A-61DA-1FBC-717BB5F8D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E36E0CF-9F08-F7FC-3F6A-A3650DB68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743856"/>
            <a:ext cx="10482157" cy="946150"/>
          </a:xfrm>
        </p:spPr>
        <p:txBody>
          <a:bodyPr>
            <a:normAutofit/>
          </a:bodyPr>
          <a:lstStyle/>
          <a:p>
            <a:r>
              <a:rPr lang="en-US"/>
              <a:t>RUSSIA – CHINA: </a:t>
            </a:r>
            <a:r>
              <a:rPr lang="en-US">
                <a:highlight>
                  <a:srgbClr val="D8512B"/>
                </a:highlight>
              </a:rPr>
              <a:t>A comparative analysis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AB5AC9-480F-7726-2689-C648CF2D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3DF1A9-6526-5A20-5323-85FA95E99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853978"/>
              </p:ext>
            </p:extLst>
          </p:nvPr>
        </p:nvGraphicFramePr>
        <p:xfrm>
          <a:off x="1834837" y="2276054"/>
          <a:ext cx="8522326" cy="3048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4621">
                  <a:extLst>
                    <a:ext uri="{9D8B030D-6E8A-4147-A177-3AD203B41FA5}">
                      <a16:colId xmlns:a16="http://schemas.microsoft.com/office/drawing/2014/main" val="2998365791"/>
                    </a:ext>
                  </a:extLst>
                </a:gridCol>
                <a:gridCol w="1694576">
                  <a:extLst>
                    <a:ext uri="{9D8B030D-6E8A-4147-A177-3AD203B41FA5}">
                      <a16:colId xmlns:a16="http://schemas.microsoft.com/office/drawing/2014/main" val="2957314005"/>
                    </a:ext>
                  </a:extLst>
                </a:gridCol>
                <a:gridCol w="1683129">
                  <a:extLst>
                    <a:ext uri="{9D8B030D-6E8A-4147-A177-3AD203B41FA5}">
                      <a16:colId xmlns:a16="http://schemas.microsoft.com/office/drawing/2014/main" val="1104793076"/>
                    </a:ext>
                  </a:extLst>
                </a:gridCol>
              </a:tblGrid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Proxy Characteristics/Countries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400">
                        <a:solidFill>
                          <a:schemeClr val="bg1"/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T" sz="1400">
                        <a:solidFill>
                          <a:schemeClr val="bg1"/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289075"/>
                  </a:ext>
                </a:extLst>
              </a:tr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Private companies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397264"/>
                  </a:ext>
                </a:extLst>
              </a:tr>
              <a:tr h="439533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Degree of autonomy of private companies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Medium-Low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High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50289"/>
                  </a:ext>
                </a:extLst>
              </a:tr>
              <a:tr h="439533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Full outsourcing to private companies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95250"/>
                  </a:ext>
                </a:extLst>
              </a:tr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Hacktivist groups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Unclear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788178"/>
                  </a:ext>
                </a:extLst>
              </a:tr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Independent hackers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Yes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794032"/>
                  </a:ext>
                </a:extLst>
              </a:tr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eCrime groups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Likely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No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777567"/>
                  </a:ext>
                </a:extLst>
              </a:tr>
              <a:tr h="361522"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Information operations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FOREIGN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T" sz="1400">
                          <a:solidFill>
                            <a:schemeClr val="bg1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Domestic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4034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C8CE484-C13D-75EC-8F55-144D30885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455" y="2276054"/>
            <a:ext cx="524312" cy="346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25B79-9788-CDBD-7444-24E8048EC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4837" y="2269961"/>
            <a:ext cx="532256" cy="34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99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87801-9D12-5085-D20D-C3CC1D1A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14BBE57-64A3-2FBD-7930-0C7E4266E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E906F58-0485-4FF4-859B-578B190F135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9F67BD7-254B-26D8-0AA1-BD391D2E0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315" y="754063"/>
            <a:ext cx="10452630" cy="946150"/>
          </a:xfrm>
        </p:spPr>
        <p:txBody>
          <a:bodyPr/>
          <a:lstStyle/>
          <a:p>
            <a:r>
              <a:rPr lang="en-US" dirty="0"/>
              <a:t>THE PROXY WARFARE: </a:t>
            </a:r>
            <a:r>
              <a:rPr lang="en-US" dirty="0">
                <a:highlight>
                  <a:srgbClr val="D8512B"/>
                </a:highlight>
              </a:rPr>
              <a:t>Takeaways and Conclusions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C52B05-FF14-4175-1DF3-1C647C33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1ADAE-18E2-4948-A075-884199165C17}" type="datetime1">
              <a:rPr lang="de-DE" smtClean="0"/>
              <a:t>03.09.25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F5732-9A1E-23D1-BEF6-6DEF1B5AAB0F}"/>
              </a:ext>
            </a:extLst>
          </p:cNvPr>
          <p:cNvSpPr txBox="1"/>
          <p:nvPr/>
        </p:nvSpPr>
        <p:spPr>
          <a:xfrm>
            <a:off x="1047709" y="2550954"/>
            <a:ext cx="4677230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Functional and Effective Model</a:t>
            </a:r>
          </a:p>
          <a:p>
            <a:pPr>
              <a:buClr>
                <a:schemeClr val="accent1"/>
              </a:buClr>
            </a:pPr>
            <a:endParaRPr lang="en-GB" sz="3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Best for Authoritarian Regimes</a:t>
            </a:r>
          </a:p>
          <a:p>
            <a:pPr>
              <a:buClr>
                <a:schemeClr val="accent1"/>
              </a:buClr>
            </a:pP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Clr>
                <a:schemeClr val="accent1"/>
              </a:buClr>
            </a:pP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8F860CB-C6E6-1B0E-09F2-BE33E48BF7B5}"/>
              </a:ext>
            </a:extLst>
          </p:cNvPr>
          <p:cNvSpPr txBox="1"/>
          <p:nvPr/>
        </p:nvSpPr>
        <p:spPr>
          <a:xfrm>
            <a:off x="6644715" y="2550953"/>
            <a:ext cx="4677230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Increasingly Complex Threat Landscape</a:t>
            </a:r>
          </a:p>
          <a:p>
            <a:pPr>
              <a:buClr>
                <a:schemeClr val="accent1"/>
              </a:buClr>
            </a:pPr>
            <a:endParaRPr lang="en-GB" sz="32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Challenging Attribution</a:t>
            </a:r>
          </a:p>
          <a:p>
            <a:pPr>
              <a:buClr>
                <a:schemeClr val="accent1"/>
              </a:buClr>
            </a:pP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buClr>
                <a:schemeClr val="accent1"/>
              </a:buClr>
            </a:pPr>
            <a:endParaRPr lang="en-GB" sz="16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44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C362F9-F98A-2E39-8E6B-41A7663262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64E5FB-B6C6-7747-9616-0153D856CC19}" type="datetime1">
              <a:rPr lang="de-DE" smtClean="0"/>
              <a:t>03.09.25</a:t>
            </a:fld>
            <a:endParaRPr lang="en-U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A1ACFB-94E7-F985-2778-EDB8AD5119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35112" y="6356350"/>
            <a:ext cx="417100" cy="365125"/>
          </a:xfrm>
        </p:spPr>
        <p:txBody>
          <a:bodyPr/>
          <a:lstStyle/>
          <a:p>
            <a:fld id="{46E97741-9676-2A4C-B109-82A7BC6B6ED4}" type="slidenum">
              <a:rPr lang="en-IT" smtClean="0"/>
              <a:t>19</a:t>
            </a:fld>
            <a:endParaRPr lang="en-IT"/>
          </a:p>
        </p:txBody>
      </p:sp>
      <p:pic>
        <p:nvPicPr>
          <p:cNvPr id="4" name="Picture 2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784E4A06-8E86-72D5-12E0-52C074C54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1" t="45492" r="10278" b="22510"/>
          <a:stretch>
            <a:fillRect/>
          </a:stretch>
        </p:blipFill>
        <p:spPr>
          <a:xfrm>
            <a:off x="0" y="382460"/>
            <a:ext cx="12192000" cy="3459312"/>
          </a:xfrm>
          <a:prstGeom prst="rect">
            <a:avLst/>
          </a:prstGeom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7E744BB1-023E-875D-3CA4-3BB5CC9AC23A}"/>
              </a:ext>
            </a:extLst>
          </p:cNvPr>
          <p:cNvSpPr/>
          <p:nvPr/>
        </p:nvSpPr>
        <p:spPr>
          <a:xfrm>
            <a:off x="0" y="2899085"/>
            <a:ext cx="2981739" cy="504104"/>
          </a:xfrm>
          <a:prstGeom prst="rect">
            <a:avLst/>
          </a:prstGeom>
          <a:solidFill>
            <a:srgbClr val="DC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81FFBF-C57A-3455-D06C-B4C185D51594}"/>
              </a:ext>
            </a:extLst>
          </p:cNvPr>
          <p:cNvSpPr txBox="1">
            <a:spLocks/>
          </p:cNvSpPr>
          <p:nvPr/>
        </p:nvSpPr>
        <p:spPr>
          <a:xfrm>
            <a:off x="839788" y="2878244"/>
            <a:ext cx="2600739" cy="511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j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rgbClr val="FFFFFF"/>
                </a:solidFill>
              </a:rPr>
              <a:t>FOLLOW US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j-cs"/>
            </a:endParaRP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7F90AEC4-986C-C1BF-4B57-4F36501F7365}"/>
              </a:ext>
            </a:extLst>
          </p:cNvPr>
          <p:cNvSpPr txBox="1">
            <a:spLocks/>
          </p:cNvSpPr>
          <p:nvPr/>
        </p:nvSpPr>
        <p:spPr>
          <a:xfrm>
            <a:off x="1636789" y="4215693"/>
            <a:ext cx="3413122" cy="63074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D75B32"/>
              </a:buClr>
              <a:buSzPct val="80000"/>
              <a:buFont typeface="+mj-lt"/>
              <a:buNone/>
              <a:defRPr sz="3000" b="1" i="0" kern="1200">
                <a:solidFill>
                  <a:schemeClr val="tx1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75B32"/>
              </a:buClr>
              <a:buSzPct val="80000"/>
              <a:buFont typeface="+mj-lt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QuoIntelligence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C4A4273-D5BE-3067-FD00-C7175C9CD538}"/>
              </a:ext>
            </a:extLst>
          </p:cNvPr>
          <p:cNvSpPr txBox="1">
            <a:spLocks/>
          </p:cNvSpPr>
          <p:nvPr/>
        </p:nvSpPr>
        <p:spPr>
          <a:xfrm>
            <a:off x="2135082" y="4955445"/>
            <a:ext cx="2944356" cy="36617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400" b="1" i="0" kern="120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curious@quointelligence.eu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rPr>
              <a:t> </a:t>
            </a:r>
          </a:p>
        </p:txBody>
      </p:sp>
      <p:pic>
        <p:nvPicPr>
          <p:cNvPr id="36" name="Graphic 12" descr="Envelope with solid fill">
            <a:extLst>
              <a:ext uri="{FF2B5EF4-FFF2-40B4-BE49-F238E27FC236}">
                <a16:creationId xmlns:a16="http://schemas.microsoft.com/office/drawing/2014/main" id="{FE253A68-E8B6-ED04-2DC3-977AD78FE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8776" y="4992599"/>
            <a:ext cx="310859" cy="291871"/>
          </a:xfrm>
          <a:prstGeom prst="rect">
            <a:avLst/>
          </a:prstGeom>
        </p:spPr>
      </p:pic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A445D0B6-26C9-D038-3E11-B4481058BADB}"/>
              </a:ext>
            </a:extLst>
          </p:cNvPr>
          <p:cNvSpPr txBox="1">
            <a:spLocks/>
          </p:cNvSpPr>
          <p:nvPr/>
        </p:nvSpPr>
        <p:spPr>
          <a:xfrm>
            <a:off x="2135082" y="5393474"/>
            <a:ext cx="2249862" cy="36617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400" b="1" i="0" kern="120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quointelligence.eu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rPr>
              <a:t> </a:t>
            </a:r>
          </a:p>
        </p:txBody>
      </p:sp>
      <p:pic>
        <p:nvPicPr>
          <p:cNvPr id="38" name="Graphic 14" descr="World with solid fill">
            <a:extLst>
              <a:ext uri="{FF2B5EF4-FFF2-40B4-BE49-F238E27FC236}">
                <a16:creationId xmlns:a16="http://schemas.microsoft.com/office/drawing/2014/main" id="{74D8EE8C-A1A9-9B2B-E6AB-987571BF9E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7720" y="5463429"/>
            <a:ext cx="232971" cy="235225"/>
          </a:xfrm>
          <a:prstGeom prst="rect">
            <a:avLst/>
          </a:prstGeom>
        </p:spPr>
      </p:pic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7111C96D-562D-C886-E142-54CF5B8966BB}"/>
              </a:ext>
            </a:extLst>
          </p:cNvPr>
          <p:cNvSpPr txBox="1">
            <a:spLocks/>
          </p:cNvSpPr>
          <p:nvPr/>
        </p:nvSpPr>
        <p:spPr>
          <a:xfrm>
            <a:off x="7095091" y="4215692"/>
            <a:ext cx="3413122" cy="63074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D75B32"/>
              </a:buClr>
              <a:buSzPct val="80000"/>
              <a:buFont typeface="+mj-lt"/>
              <a:buNone/>
              <a:defRPr sz="3000" b="1" i="0" kern="1200">
                <a:solidFill>
                  <a:schemeClr val="tx1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D75B32"/>
              </a:buClr>
              <a:buSzPct val="80000"/>
              <a:buFont typeface="Wingdings" pitchFamily="2" charset="2"/>
              <a:buChar char="§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D75B32"/>
              </a:buClr>
              <a:buSzPct val="80000"/>
              <a:buFont typeface="+mj-lt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+mn-cs"/>
              </a:rPr>
              <a:t>Alixia RUTAYISIRE</a:t>
            </a:r>
          </a:p>
        </p:txBody>
      </p:sp>
      <p:pic>
        <p:nvPicPr>
          <p:cNvPr id="40" name="Imagen 39" descr="Texto, Icono&#10;&#10;El contenido generado por IA puede ser incorrecto.">
            <a:extLst>
              <a:ext uri="{FF2B5EF4-FFF2-40B4-BE49-F238E27FC236}">
                <a16:creationId xmlns:a16="http://schemas.microsoft.com/office/drawing/2014/main" id="{B87645FB-D34D-5A52-D08E-82B188D751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0" t="28477" r="34389" b="27747"/>
          <a:stretch>
            <a:fillRect/>
          </a:stretch>
        </p:blipFill>
        <p:spPr>
          <a:xfrm>
            <a:off x="7272044" y="5013864"/>
            <a:ext cx="277668" cy="271632"/>
          </a:xfrm>
          <a:prstGeom prst="rect">
            <a:avLst/>
          </a:prstGeom>
        </p:spPr>
      </p:pic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F674268C-83AC-4678-E636-7388858A9C75}"/>
              </a:ext>
            </a:extLst>
          </p:cNvPr>
          <p:cNvSpPr txBox="1">
            <a:spLocks/>
          </p:cNvSpPr>
          <p:nvPr/>
        </p:nvSpPr>
        <p:spPr>
          <a:xfrm>
            <a:off x="7556833" y="4981784"/>
            <a:ext cx="2249862" cy="36617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400" b="1" i="0" kern="120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rPr>
              <a:t>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rPr>
              <a:t>alixia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rPr>
              <a:t>-r</a:t>
            </a:r>
          </a:p>
        </p:txBody>
      </p:sp>
    </p:spTree>
    <p:extLst>
      <p:ext uri="{BB962C8B-B14F-4D97-AF65-F5344CB8AC3E}">
        <p14:creationId xmlns:p14="http://schemas.microsoft.com/office/powerpoint/2010/main" val="1902780334"/>
      </p:ext>
    </p:extLst>
  </p:cSld>
  <p:clrMapOvr>
    <a:masterClrMapping/>
  </p:clrMapOvr>
</p:sld>
</file>

<file path=ppt/theme/theme1.xml><?xml version="1.0" encoding="utf-8"?>
<a:theme xmlns:a="http://schemas.openxmlformats.org/drawingml/2006/main" name="Quo - Blue Slides">
  <a:themeElements>
    <a:clrScheme name="QI+Theme">
      <a:dk1>
        <a:srgbClr val="333333"/>
      </a:dk1>
      <a:lt1>
        <a:srgbClr val="FFFFFF"/>
      </a:lt1>
      <a:dk2>
        <a:srgbClr val="444F61"/>
      </a:dk2>
      <a:lt2>
        <a:srgbClr val="ECEAE6"/>
      </a:lt2>
      <a:accent1>
        <a:srgbClr val="D65A32"/>
      </a:accent1>
      <a:accent2>
        <a:srgbClr val="DF8464"/>
      </a:accent2>
      <a:accent3>
        <a:srgbClr val="EBAC97"/>
      </a:accent3>
      <a:accent4>
        <a:srgbClr val="2C3085"/>
      </a:accent4>
      <a:accent5>
        <a:srgbClr val="192169"/>
      </a:accent5>
      <a:accent6>
        <a:srgbClr val="151741"/>
      </a:accent6>
      <a:hlink>
        <a:srgbClr val="DFE3E7"/>
      </a:hlink>
      <a:folHlink>
        <a:srgbClr val="33333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I+MasterTemplate" id="{B16DC38F-03D6-B344-BC82-B043CB60304E}" vid="{4900BB0B-A175-1944-91E0-A7B0D3ED1A36}"/>
    </a:ext>
  </a:extLst>
</a:theme>
</file>

<file path=ppt/theme/theme2.xml><?xml version="1.0" encoding="utf-8"?>
<a:theme xmlns:a="http://schemas.openxmlformats.org/drawingml/2006/main" name="Quo-Divider-Graph">
  <a:themeElements>
    <a:clrScheme name="QI+Theme">
      <a:dk1>
        <a:srgbClr val="333333"/>
      </a:dk1>
      <a:lt1>
        <a:srgbClr val="FFFFFF"/>
      </a:lt1>
      <a:dk2>
        <a:srgbClr val="444F61"/>
      </a:dk2>
      <a:lt2>
        <a:srgbClr val="ECEAE6"/>
      </a:lt2>
      <a:accent1>
        <a:srgbClr val="D65A32"/>
      </a:accent1>
      <a:accent2>
        <a:srgbClr val="DF8464"/>
      </a:accent2>
      <a:accent3>
        <a:srgbClr val="EBAC97"/>
      </a:accent3>
      <a:accent4>
        <a:srgbClr val="2C3085"/>
      </a:accent4>
      <a:accent5>
        <a:srgbClr val="192169"/>
      </a:accent5>
      <a:accent6>
        <a:srgbClr val="151741"/>
      </a:accent6>
      <a:hlink>
        <a:srgbClr val="DFE3E7"/>
      </a:hlink>
      <a:folHlink>
        <a:srgbClr val="33333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I+MasterTemplate" id="{B16DC38F-03D6-B344-BC82-B043CB60304E}" vid="{CE3E32D3-F66C-DF41-893B-A7D8D1111005}"/>
    </a:ext>
  </a:extLst>
</a:theme>
</file>

<file path=ppt/theme/theme3.xml><?xml version="1.0" encoding="utf-8"?>
<a:theme xmlns:a="http://schemas.openxmlformats.org/drawingml/2006/main" name="Quo-WhiteSlides">
  <a:themeElements>
    <a:clrScheme name="QI+Theme">
      <a:dk1>
        <a:srgbClr val="333333"/>
      </a:dk1>
      <a:lt1>
        <a:srgbClr val="FFFFFF"/>
      </a:lt1>
      <a:dk2>
        <a:srgbClr val="444F61"/>
      </a:dk2>
      <a:lt2>
        <a:srgbClr val="ECEAE6"/>
      </a:lt2>
      <a:accent1>
        <a:srgbClr val="D65A32"/>
      </a:accent1>
      <a:accent2>
        <a:srgbClr val="DF8464"/>
      </a:accent2>
      <a:accent3>
        <a:srgbClr val="EBAC97"/>
      </a:accent3>
      <a:accent4>
        <a:srgbClr val="2C3085"/>
      </a:accent4>
      <a:accent5>
        <a:srgbClr val="192169"/>
      </a:accent5>
      <a:accent6>
        <a:srgbClr val="151741"/>
      </a:accent6>
      <a:hlink>
        <a:srgbClr val="DFE3E7"/>
      </a:hlink>
      <a:folHlink>
        <a:srgbClr val="333333"/>
      </a:folHlink>
    </a:clrScheme>
    <a:fontScheme name="Test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I+MasterTemplate" id="{B16DC38F-03D6-B344-BC82-B043CB60304E}" vid="{CCF94951-2B07-B449-9F3F-5F0FA0057E0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95caea-e324-4437-9617-ba1298653086">
      <Terms xmlns="http://schemas.microsoft.com/office/infopath/2007/PartnerControls"/>
    </lcf76f155ced4ddcb4097134ff3c332f>
    <TaxCatchAll xmlns="30f04bd3-b6a9-4f69-a1c0-3f27466dd5a0" xsi:nil="true"/>
    <SharedWithUsers xmlns="30f04bd3-b6a9-4f69-a1c0-3f27466dd5a0">
      <UserInfo>
        <DisplayName>Marco Riccardi</DisplayName>
        <AccountId>7</AccountId>
        <AccountType/>
      </UserInfo>
      <UserInfo>
        <DisplayName>Zu Arango</DisplayName>
        <AccountId>608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E11C076DE05B41A1A59A2176F15145" ma:contentTypeVersion="18" ma:contentTypeDescription="Create a new document." ma:contentTypeScope="" ma:versionID="f4fcd1b701261470dd6aba1a036295d2">
  <xsd:schema xmlns:xsd="http://www.w3.org/2001/XMLSchema" xmlns:xs="http://www.w3.org/2001/XMLSchema" xmlns:p="http://schemas.microsoft.com/office/2006/metadata/properties" xmlns:ns2="7295caea-e324-4437-9617-ba1298653086" xmlns:ns3="30f04bd3-b6a9-4f69-a1c0-3f27466dd5a0" targetNamespace="http://schemas.microsoft.com/office/2006/metadata/properties" ma:root="true" ma:fieldsID="0a2e0510a89db10fbc78f6c3e178e5cb" ns2:_="" ns3:_="">
    <xsd:import namespace="7295caea-e324-4437-9617-ba1298653086"/>
    <xsd:import namespace="30f04bd3-b6a9-4f69-a1c0-3f27466dd5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5caea-e324-4437-9617-ba12986530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ceb86ff-0f99-42c7-bd81-a8c8e3fe8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f04bd3-b6a9-4f69-a1c0-3f27466dd5a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ffb6ec5-d21f-46c9-9e1e-263881874e5f}" ma:internalName="TaxCatchAll" ma:showField="CatchAllData" ma:web="30f04bd3-b6a9-4f69-a1c0-3f27466dd5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F57E14-6D8A-4DB5-BF4B-63EA1C447E0E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7295caea-e324-4437-9617-ba1298653086"/>
    <ds:schemaRef ds:uri="http://purl.org/dc/elements/1.1/"/>
    <ds:schemaRef ds:uri="http://purl.org/dc/dcmitype/"/>
    <ds:schemaRef ds:uri="30f04bd3-b6a9-4f69-a1c0-3f27466dd5a0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D06A72A-2084-4E06-8F0A-F4F888136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2964ED-D35D-4562-8A43-DF42ADF48968}">
  <ds:schemaRefs>
    <ds:schemaRef ds:uri="30f04bd3-b6a9-4f69-a1c0-3f27466dd5a0"/>
    <ds:schemaRef ds:uri="7295caea-e324-4437-9617-ba12986530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Quo - Blue Slides</Template>
  <TotalTime>26695</TotalTime>
  <Words>535</Words>
  <Application>Microsoft Macintosh PowerPoint</Application>
  <PresentationFormat>Panorámica</PresentationFormat>
  <Paragraphs>202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0" baseType="lpstr">
      <vt:lpstr>Wingdings</vt:lpstr>
      <vt:lpstr>Inter Italic</vt:lpstr>
      <vt:lpstr>Arial</vt:lpstr>
      <vt:lpstr>Inter SemiBold</vt:lpstr>
      <vt:lpstr>Avenir Next LT Pro</vt:lpstr>
      <vt:lpstr>Inter</vt:lpstr>
      <vt:lpstr>Glacial Indifference</vt:lpstr>
      <vt:lpstr>Calibri</vt:lpstr>
      <vt:lpstr>Quo - Blue Slides</vt:lpstr>
      <vt:lpstr>Quo-Divider-Graph</vt:lpstr>
      <vt:lpstr>Quo-WhiteSlides</vt:lpstr>
      <vt:lpstr>Presentación de PowerPoint</vt:lpstr>
      <vt:lpstr>WHO I AM?</vt:lpstr>
      <vt:lpstr>SETTING THE STAGE: Methodology, Scope, Structure</vt:lpstr>
      <vt:lpstr>RUSSIA: Cybercrime network historical development </vt:lpstr>
      <vt:lpstr>RUSSIA: Intelligence agencies</vt:lpstr>
      <vt:lpstr>RUSSIA: The outsourcing ecosystem </vt:lpstr>
      <vt:lpstr>RUSSIA: Proxy services offering </vt:lpstr>
      <vt:lpstr>RUSSIA: Outsourcing risk-benefit calculus</vt:lpstr>
      <vt:lpstr>RUSSIA: The IO network</vt:lpstr>
      <vt:lpstr>CHINA: Cyber sphere historical development </vt:lpstr>
      <vt:lpstr>CHINA: From patriotic hackers to state contractors</vt:lpstr>
      <vt:lpstr>CHINA: Institutional architecture of state cyber capabilities</vt:lpstr>
      <vt:lpstr>CHINA: The outsourcing ecosystem</vt:lpstr>
      <vt:lpstr>CHINA: Proxy services offering</vt:lpstr>
      <vt:lpstr>CHINA: Outsourcing risk-benefit calculus</vt:lpstr>
      <vt:lpstr>CHINA: Vulnerability identification and exploitation strategy</vt:lpstr>
      <vt:lpstr>RUSSIA – CHINA: A comparative analysis</vt:lpstr>
      <vt:lpstr>THE PROXY WARFARE: Takeaways and Conclusions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Alixia Clarisse Rutayisire</dc:creator>
  <cp:keywords/>
  <dc:description/>
  <cp:lastModifiedBy>Alixia Clarisse Rutayisire</cp:lastModifiedBy>
  <cp:revision>12</cp:revision>
  <dcterms:created xsi:type="dcterms:W3CDTF">2024-05-31T11:59:38Z</dcterms:created>
  <dcterms:modified xsi:type="dcterms:W3CDTF">2025-09-03T08:42:14Z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0x010100F1AB7FEA57AA794ABA10817A74D10DED</vt:lpwstr>
  </property>
  <property fmtid="{D5CDD505-2E9C-101B-9397-08002B2CF9AE}" pid="3" name="MediaServiceImageTags">
    <vt:lpwstr/>
  </property>
</Properties>
</file>